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d Dead Redemption 2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0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/>
          <p:cNvSpPr>
            <a:spLocks noGrp="1"/>
          </p:cNvSpPr>
          <p:nvPr/>
        </p:nvSpPr>
        <p:spPr>
          <a:xfrm>
            <a:off x="-1127051" y="-531628"/>
            <a:ext cx="6676139" cy="7994465"/>
          </a:xfrm>
          <a:prstGeom prst="rect">
            <a:avLst/>
          </a:prstGeom>
          <a:solidFill>
            <a:srgbClr val="101015">
              <a:alpha val="9200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/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/>
          <p:cNvSpPr>
            <a:spLocks noGrp="1"/>
          </p:cNvSpPr>
          <p:nvPr/>
        </p:nvSpPr>
        <p:spPr>
          <a:xfrm>
            <a:off x="666750" y="1095375"/>
            <a:ext cx="4476750" cy="904875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txBody>
          <a:bodyPr wrap="square" lIns="0" tIns="0" rIns="0" bIns="0"/>
          <a:lstStyle/>
          <a:p>
            <a:pPr algn="l"/>
            <a:r>
              <a:rPr lang="es-ES" sz="3800" b="1">
                <a:solidFill>
                  <a:srgbClr val="FFFFFF"/>
                </a:solidFill>
                <a:latin typeface="Aptos Display"/>
              </a:rPr>
              <a:t>API REST de</a:t>
            </a:r>
          </a:p>
          <a:p>
            <a:pPr algn="l"/>
            <a:r>
              <a:rPr lang="es-ES" sz="3800" b="1">
                <a:solidFill>
                  <a:srgbClr val="FFFFFF"/>
                </a:solidFill>
                <a:latin typeface="Aptos Display"/>
              </a:rPr>
              <a:t>videojuegos</a:t>
            </a:r>
          </a:p>
        </p:txBody>
      </p:sp>
      <p:sp>
        <p:nvSpPr>
          <p:cNvPr id="8" name="Rectángulo 7"/>
          <p:cNvSpPr>
            <a:spLocks noGrp="1"/>
          </p:cNvSpPr>
          <p:nvPr/>
        </p:nvSpPr>
        <p:spPr>
          <a:xfrm>
            <a:off x="685800" y="2238375"/>
            <a:ext cx="4619625" cy="8572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txBody>
          <a:bodyPr wrap="square" lIns="0" tIns="0" rIns="0" bIns="0"/>
          <a:lstStyle/>
          <a:p>
            <a:pPr algn="l"/>
            <a:r>
              <a:rPr lang="es-ES" sz="1800" b="0" dirty="0">
                <a:solidFill>
                  <a:srgbClr val="D7D7E6"/>
                </a:solidFill>
                <a:latin typeface="Aptos"/>
              </a:rPr>
              <a:t>Datos de videojuegos, desarrolladores, </a:t>
            </a:r>
            <a:r>
              <a:rPr lang="es-ES" sz="1800" b="0" dirty="0" err="1">
                <a:solidFill>
                  <a:srgbClr val="D7D7E6"/>
                </a:solidFill>
                <a:latin typeface="Aptos"/>
              </a:rPr>
              <a:t>reviews</a:t>
            </a:r>
            <a:r>
              <a:rPr lang="es-ES" sz="1800" b="0" dirty="0">
                <a:solidFill>
                  <a:srgbClr val="D7D7E6"/>
                </a:solidFill>
                <a:latin typeface="Aptos"/>
              </a:rPr>
              <a:t> y países.</a:t>
            </a:r>
          </a:p>
        </p:txBody>
      </p:sp>
      <p:sp>
        <p:nvSpPr>
          <p:cNvPr id="20" name="Rectángulo 19"/>
          <p:cNvSpPr>
            <a:spLocks noGrp="1"/>
          </p:cNvSpPr>
          <p:nvPr/>
        </p:nvSpPr>
        <p:spPr>
          <a:xfrm>
            <a:off x="685800" y="3429000"/>
            <a:ext cx="1314450" cy="295275"/>
          </a:xfrm>
          <a:prstGeom prst="rect">
            <a:avLst/>
          </a:prstGeom>
          <a:solidFill>
            <a:srgbClr val="20202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/>
          <p:cNvSpPr>
            <a:spLocks noGrp="1"/>
          </p:cNvSpPr>
          <p:nvPr/>
        </p:nvSpPr>
        <p:spPr>
          <a:xfrm>
            <a:off x="781050" y="3505200"/>
            <a:ext cx="1143000" cy="152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txBody>
          <a:bodyPr wrap="square" lIns="0" tIns="0" rIns="0" bIns="0"/>
          <a:lstStyle/>
          <a:p>
            <a:pPr algn="l"/>
            <a:r>
              <a:rPr lang="es-ES" sz="1000" b="1">
                <a:solidFill>
                  <a:srgbClr val="FFFFFF"/>
                </a:solidFill>
                <a:latin typeface="Aptos"/>
              </a:rPr>
              <a:t>RAWG + Wikidata</a:t>
            </a:r>
          </a:p>
        </p:txBody>
      </p:sp>
      <p:sp>
        <p:nvSpPr>
          <p:cNvPr id="22" name="Rectángulo 21"/>
          <p:cNvSpPr>
            <a:spLocks noGrp="1"/>
          </p:cNvSpPr>
          <p:nvPr/>
        </p:nvSpPr>
        <p:spPr>
          <a:xfrm>
            <a:off x="2190750" y="3429000"/>
            <a:ext cx="1314450" cy="295275"/>
          </a:xfrm>
          <a:prstGeom prst="rect">
            <a:avLst/>
          </a:prstGeom>
          <a:solidFill>
            <a:srgbClr val="20202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/>
          <p:cNvSpPr>
            <a:spLocks noGrp="1"/>
          </p:cNvSpPr>
          <p:nvPr/>
        </p:nvSpPr>
        <p:spPr>
          <a:xfrm>
            <a:off x="2286000" y="3505200"/>
            <a:ext cx="1143000" cy="152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txBody>
          <a:bodyPr wrap="square" lIns="0" tIns="0" rIns="0" bIns="0"/>
          <a:lstStyle/>
          <a:p>
            <a:pPr algn="l"/>
            <a:r>
              <a:rPr lang="es-ES" sz="1000" b="1">
                <a:solidFill>
                  <a:srgbClr val="FFFFFF"/>
                </a:solidFill>
                <a:latin typeface="Aptos"/>
              </a:rPr>
              <a:t>MongoDB</a:t>
            </a:r>
          </a:p>
        </p:txBody>
      </p:sp>
      <p:sp>
        <p:nvSpPr>
          <p:cNvPr id="24" name="Rectángulo 23"/>
          <p:cNvSpPr>
            <a:spLocks noGrp="1"/>
          </p:cNvSpPr>
          <p:nvPr/>
        </p:nvSpPr>
        <p:spPr>
          <a:xfrm>
            <a:off x="3695700" y="3429000"/>
            <a:ext cx="1314450" cy="295275"/>
          </a:xfrm>
          <a:prstGeom prst="rect">
            <a:avLst/>
          </a:prstGeom>
          <a:solidFill>
            <a:srgbClr val="20202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/>
          <p:cNvSpPr>
            <a:spLocks noGrp="1"/>
          </p:cNvSpPr>
          <p:nvPr/>
        </p:nvSpPr>
        <p:spPr>
          <a:xfrm>
            <a:off x="3790950" y="3505200"/>
            <a:ext cx="1143000" cy="152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txBody>
          <a:bodyPr wrap="square" lIns="0" tIns="0" rIns="0" bIns="0"/>
          <a:lstStyle/>
          <a:p>
            <a:pPr algn="l"/>
            <a:r>
              <a:rPr lang="es-ES" sz="1000" b="1">
                <a:solidFill>
                  <a:srgbClr val="FFFFFF"/>
                </a:solidFill>
                <a:latin typeface="Aptos"/>
              </a:rPr>
              <a:t>CRUD</a:t>
            </a:r>
          </a:p>
        </p:txBody>
      </p:sp>
      <p:sp>
        <p:nvSpPr>
          <p:cNvPr id="26" name="Rectángulo 25"/>
          <p:cNvSpPr>
            <a:spLocks noGrp="1"/>
          </p:cNvSpPr>
          <p:nvPr/>
        </p:nvSpPr>
        <p:spPr>
          <a:xfrm>
            <a:off x="685800" y="3886200"/>
            <a:ext cx="1314450" cy="295275"/>
          </a:xfrm>
          <a:prstGeom prst="rect">
            <a:avLst/>
          </a:prstGeom>
          <a:solidFill>
            <a:srgbClr val="20202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/>
          <p:cNvSpPr>
            <a:spLocks noGrp="1"/>
          </p:cNvSpPr>
          <p:nvPr/>
        </p:nvSpPr>
        <p:spPr>
          <a:xfrm>
            <a:off x="781050" y="3962400"/>
            <a:ext cx="1143000" cy="152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txBody>
          <a:bodyPr wrap="square" lIns="0" tIns="0" rIns="0" bIns="0"/>
          <a:lstStyle/>
          <a:p>
            <a:pPr algn="l"/>
            <a:r>
              <a:rPr lang="es-ES" sz="1000" b="1">
                <a:solidFill>
                  <a:srgbClr val="FFFFFF"/>
                </a:solidFill>
                <a:latin typeface="Aptos"/>
              </a:rPr>
              <a:t>OpenAPI</a:t>
            </a:r>
          </a:p>
        </p:txBody>
      </p:sp>
      <p:sp>
        <p:nvSpPr>
          <p:cNvPr id="28" name="Rectángulo 27"/>
          <p:cNvSpPr>
            <a:spLocks noGrp="1"/>
          </p:cNvSpPr>
          <p:nvPr/>
        </p:nvSpPr>
        <p:spPr>
          <a:xfrm>
            <a:off x="2190750" y="3886200"/>
            <a:ext cx="1314450" cy="295275"/>
          </a:xfrm>
          <a:prstGeom prst="rect">
            <a:avLst/>
          </a:prstGeom>
          <a:solidFill>
            <a:srgbClr val="20202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ángulo 28"/>
          <p:cNvSpPr>
            <a:spLocks noGrp="1"/>
          </p:cNvSpPr>
          <p:nvPr/>
        </p:nvSpPr>
        <p:spPr>
          <a:xfrm>
            <a:off x="2286000" y="3962400"/>
            <a:ext cx="1143000" cy="152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txBody>
          <a:bodyPr wrap="square" lIns="0" tIns="0" rIns="0" bIns="0"/>
          <a:lstStyle/>
          <a:p>
            <a:pPr algn="l"/>
            <a:r>
              <a:rPr lang="es-ES" sz="1000" b="1">
                <a:solidFill>
                  <a:srgbClr val="FFFFFF"/>
                </a:solidFill>
                <a:latin typeface="Aptos"/>
              </a:rPr>
              <a:t>Cliente web</a:t>
            </a:r>
          </a:p>
        </p:txBody>
      </p:sp>
      <p:sp>
        <p:nvSpPr>
          <p:cNvPr id="30" name="Rectángulo 29"/>
          <p:cNvSpPr>
            <a:spLocks noGrp="1"/>
          </p:cNvSpPr>
          <p:nvPr/>
        </p:nvSpPr>
        <p:spPr>
          <a:xfrm>
            <a:off x="3695700" y="3886200"/>
            <a:ext cx="1314450" cy="295275"/>
          </a:xfrm>
          <a:prstGeom prst="rect">
            <a:avLst/>
          </a:prstGeom>
          <a:solidFill>
            <a:srgbClr val="20202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30"/>
          <p:cNvSpPr>
            <a:spLocks noGrp="1"/>
          </p:cNvSpPr>
          <p:nvPr/>
        </p:nvSpPr>
        <p:spPr>
          <a:xfrm>
            <a:off x="3790950" y="3962400"/>
            <a:ext cx="1143000" cy="152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txBody>
          <a:bodyPr wrap="square" lIns="0" tIns="0" rIns="0" bIns="0"/>
          <a:lstStyle/>
          <a:p>
            <a:pPr algn="l"/>
            <a:r>
              <a:rPr lang="es-ES" sz="1000" b="1">
                <a:solidFill>
                  <a:srgbClr val="FFFFFF"/>
                </a:solidFill>
                <a:latin typeface="Aptos"/>
              </a:rPr>
              <a:t>Tests</a:t>
            </a:r>
          </a:p>
        </p:txBody>
      </p:sp>
      <p:sp>
        <p:nvSpPr>
          <p:cNvPr id="40" name="Rectángulo 39"/>
          <p:cNvSpPr>
            <a:spLocks noGrp="1"/>
          </p:cNvSpPr>
          <p:nvPr/>
        </p:nvSpPr>
        <p:spPr>
          <a:xfrm>
            <a:off x="685800" y="4714875"/>
            <a:ext cx="1238250" cy="20955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txBody>
          <a:bodyPr wrap="square" lIns="0" tIns="0" rIns="0" bIns="0"/>
          <a:lstStyle/>
          <a:p>
            <a:pPr algn="l"/>
            <a:r>
              <a:rPr lang="es-ES" sz="1500" b="1">
                <a:solidFill>
                  <a:srgbClr val="C8FF3D"/>
                </a:solidFill>
                <a:latin typeface="Aptos"/>
              </a:rPr>
              <a:t>Hecho por</a:t>
            </a:r>
          </a:p>
        </p:txBody>
      </p:sp>
      <p:sp>
        <p:nvSpPr>
          <p:cNvPr id="41" name="Rectángulo 40"/>
          <p:cNvSpPr>
            <a:spLocks noGrp="1"/>
          </p:cNvSpPr>
          <p:nvPr/>
        </p:nvSpPr>
        <p:spPr>
          <a:xfrm>
            <a:off x="685800" y="5029200"/>
            <a:ext cx="4762500" cy="7239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txBody>
          <a:bodyPr wrap="square" lIns="0" tIns="0" rIns="0" bIns="0"/>
          <a:lstStyle/>
          <a:p>
            <a:pPr algn="l"/>
            <a:r>
              <a:rPr lang="es-ES" sz="1700" b="1" dirty="0">
                <a:solidFill>
                  <a:srgbClr val="FFFFFF"/>
                </a:solidFill>
                <a:latin typeface="Aptos"/>
              </a:rPr>
              <a:t>Álvaro Sanz Cortés</a:t>
            </a:r>
          </a:p>
          <a:p>
            <a:pPr algn="l"/>
            <a:r>
              <a:rPr lang="es-ES" sz="1700" b="1" dirty="0">
                <a:solidFill>
                  <a:srgbClr val="FFFFFF"/>
                </a:solidFill>
                <a:latin typeface="Aptos"/>
              </a:rPr>
              <a:t>David Pérez Alonso</a:t>
            </a:r>
          </a:p>
          <a:p>
            <a:r>
              <a:rPr lang="es-ES" sz="1700" b="1" dirty="0">
                <a:solidFill>
                  <a:srgbClr val="FFFFFF"/>
                </a:solidFill>
                <a:latin typeface="Aptos"/>
              </a:rPr>
              <a:t>Marcos Martínez Baeza</a:t>
            </a:r>
          </a:p>
          <a:p>
            <a:pPr algn="l"/>
            <a:endParaRPr lang="es-ES" sz="1700" b="1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ángulo 57">
            <a:extLst>
              <a:ext uri="{FF2B5EF4-FFF2-40B4-BE49-F238E27FC236}">
                <a16:creationId xmlns:a16="http://schemas.microsoft.com/office/drawing/2014/main" id="{BA38AA52-379D-45A4-A16D-E8595CF150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AAEA99-741C-43CD-9B6A-7E01ACBE1C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7006AA9-993C-4DF1-86BE-1B00D0274618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A194685-B077-46A7-BEFB-7DF9D5A9B64C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276DA09-5F24-4A9F-BED5-101306F9DE53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A2C1576-66ED-4A2F-82B3-ADB26080A6BB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F0C148F-CB31-4D0B-8032-1BB79EBA7885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C8AA5C9-4C01-4BB7-8892-7D81D6BDB585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8D2118D-BC61-4E22-B3DF-B8BF1F668B14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89B6D7F-06EB-44AB-9894-BE7D9B2A5AC3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EF90A0D-DAAF-4CBA-9714-C017448EEB1F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774BD9A-B06C-413B-8C38-75FC54D8A9F5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AB9B6C8-4F1C-4FD2-80E4-DBF148317641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97BB810-D50E-4173-B76E-57D3859C8C20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EF41C57-9E12-4501-B871-03ED2D45F799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0D28F4F-8047-4335-B048-A7A96145C041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DAF41DF-86B7-4362-80CB-2CBDDD35AAFD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BB5DF26-DFED-4BD3-A851-05DE857DA0BC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648732C-E8CD-48BB-85BC-152F79E6F34D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6592EDD-C9CB-4140-A734-2CC9A61D3977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D61222F-A1C3-457A-8089-CBF947923E75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F31E5BE-CC75-4C53-9F0A-726386181B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5F7E3F7-7D43-4FF0-AC21-B21B6050A99B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DD65964-0E18-49E2-B5D2-DA82ACB16FB1}"/>
              </a:ext>
            </a:extLst>
          </p:cNvPr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F19DA08-619F-49AB-8DE4-A9B048B6DF61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32AC9FA-6FA3-47F2-B9BD-0911557F5DA9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8BD1B603-E94A-46E8-B751-24B4694D373A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022AEF8-A76E-4BB5-BF1A-8C0319A6F332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FD2B45A9-748E-4478-948E-B7F08CD0A263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E9B15C5-AB13-4EDE-8463-CBAA3D5A20FF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E45F6255-59B9-42E8-910B-D01F6049EE54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4BBEFAF-FA5F-472A-9BE2-DAD28E752FEC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3BF6D9C0-DFE1-4A55-9230-21A6B2768DCC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A81E906-5442-4A96-9F12-C9D7085AE7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C521068C-A6F9-4DE0-819F-AC1143035B36}"/>
              </a:ext>
            </a:extLst>
          </p:cNvPr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6B83C308-E9B6-4CDC-851A-FB4DD1624128}"/>
              </a:ext>
            </a:extLst>
          </p:cNvPr>
          <p:cNvSpPr>
            <a:spLocks noGrp="1"/>
          </p:cNvSpPr>
          <p:nvPr/>
        </p:nvSpPr>
        <p:spPr>
          <a:xfrm>
            <a:off x="666750" y="695325"/>
            <a:ext cx="7048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lang="es-ES" sz="280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Agenda</a:t>
            </a:r>
            <a:endParaRPr sz="2800" b="1" dirty="0">
              <a:solidFill>
                <a:srgbClr val="F5F5F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882558E4-0AED-4547-9A56-0B62576A22DC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666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62C15A47-B0EB-4A28-8636-BBF0B0D8BB80}"/>
              </a:ext>
            </a:extLst>
          </p:cNvPr>
          <p:cNvSpPr>
            <a:spLocks noGrp="1"/>
          </p:cNvSpPr>
          <p:nvPr/>
        </p:nvSpPr>
        <p:spPr>
          <a:xfrm>
            <a:off x="1619250" y="1504950"/>
            <a:ext cx="8858250" cy="57150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41541B57-DB0A-4E41-B74E-B8C0CFBEE63A}"/>
              </a:ext>
            </a:extLst>
          </p:cNvPr>
          <p:cNvSpPr>
            <a:spLocks noGrp="1"/>
          </p:cNvSpPr>
          <p:nvPr/>
        </p:nvSpPr>
        <p:spPr>
          <a:xfrm>
            <a:off x="1857375" y="160020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Contexto y datos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659E95FC-5F57-4C7E-BB66-01D2EF7B8FDF}"/>
              </a:ext>
            </a:extLst>
          </p:cNvPr>
          <p:cNvSpPr>
            <a:spLocks noGrp="1"/>
          </p:cNvSpPr>
          <p:nvPr/>
        </p:nvSpPr>
        <p:spPr>
          <a:xfrm>
            <a:off x="4953000" y="1628775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De dónde salen los datos y cómo llegan a MongoDB.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7931987C-B0ED-4CA5-BA98-9B2AA69EED00}"/>
              </a:ext>
            </a:extLst>
          </p:cNvPr>
          <p:cNvSpPr>
            <a:spLocks noGrp="1"/>
          </p:cNvSpPr>
          <p:nvPr/>
        </p:nvSpPr>
        <p:spPr>
          <a:xfrm>
            <a:off x="857250" y="2409825"/>
            <a:ext cx="666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A1C0EEBD-32BA-4BC1-9BDC-2E6679226888}"/>
              </a:ext>
            </a:extLst>
          </p:cNvPr>
          <p:cNvSpPr>
            <a:spLocks noGrp="1"/>
          </p:cNvSpPr>
          <p:nvPr/>
        </p:nvSpPr>
        <p:spPr>
          <a:xfrm>
            <a:off x="1619250" y="2343150"/>
            <a:ext cx="8858250" cy="571500"/>
          </a:xfrm>
          <a:prstGeom prst="rect">
            <a:avLst/>
          </a:prstGeom>
          <a:solidFill>
            <a:srgbClr val="191920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FFE69250-369E-4545-A9BA-480C787E70CC}"/>
              </a:ext>
            </a:extLst>
          </p:cNvPr>
          <p:cNvSpPr>
            <a:spLocks noGrp="1"/>
          </p:cNvSpPr>
          <p:nvPr/>
        </p:nvSpPr>
        <p:spPr>
          <a:xfrm>
            <a:off x="1857375" y="243840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Modelo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21EB1F0F-F7D6-4205-9217-BEC8E839F5CE}"/>
              </a:ext>
            </a:extLst>
          </p:cNvPr>
          <p:cNvSpPr>
            <a:spLocks noGrp="1"/>
          </p:cNvSpPr>
          <p:nvPr/>
        </p:nvSpPr>
        <p:spPr>
          <a:xfrm>
            <a:off x="4953000" y="2466975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Colecciones, relaciones e identificadores públicos.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B685B26B-0D93-40B9-B884-A1D29EF6D570}"/>
              </a:ext>
            </a:extLst>
          </p:cNvPr>
          <p:cNvSpPr>
            <a:spLocks noGrp="1"/>
          </p:cNvSpPr>
          <p:nvPr/>
        </p:nvSpPr>
        <p:spPr>
          <a:xfrm>
            <a:off x="857250" y="3248025"/>
            <a:ext cx="666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3619F13C-A2E6-4312-B6E7-1CC933F0DEC3}"/>
              </a:ext>
            </a:extLst>
          </p:cNvPr>
          <p:cNvSpPr>
            <a:spLocks noGrp="1"/>
          </p:cNvSpPr>
          <p:nvPr/>
        </p:nvSpPr>
        <p:spPr>
          <a:xfrm>
            <a:off x="1619250" y="3181350"/>
            <a:ext cx="8858250" cy="57150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83DBC425-50AC-4787-893C-BF51CB94DEED}"/>
              </a:ext>
            </a:extLst>
          </p:cNvPr>
          <p:cNvSpPr>
            <a:spLocks noGrp="1"/>
          </p:cNvSpPr>
          <p:nvPr/>
        </p:nvSpPr>
        <p:spPr>
          <a:xfrm>
            <a:off x="1857375" y="327660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Interfaz REST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3A4A8981-E413-4160-8773-75171724A503}"/>
              </a:ext>
            </a:extLst>
          </p:cNvPr>
          <p:cNvSpPr>
            <a:spLocks noGrp="1"/>
          </p:cNvSpPr>
          <p:nvPr/>
        </p:nvSpPr>
        <p:spPr>
          <a:xfrm>
            <a:off x="4953000" y="3305175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Rutas, CRUD, filtros y recursos relacionados.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DABA3A34-E0AC-423C-B96E-AF3601183F5E}"/>
              </a:ext>
            </a:extLst>
          </p:cNvPr>
          <p:cNvSpPr>
            <a:spLocks noGrp="1"/>
          </p:cNvSpPr>
          <p:nvPr/>
        </p:nvSpPr>
        <p:spPr>
          <a:xfrm>
            <a:off x="857250" y="4086225"/>
            <a:ext cx="666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BB686745-32F3-4468-890D-E270DD31F45C}"/>
              </a:ext>
            </a:extLst>
          </p:cNvPr>
          <p:cNvSpPr>
            <a:spLocks noGrp="1"/>
          </p:cNvSpPr>
          <p:nvPr/>
        </p:nvSpPr>
        <p:spPr>
          <a:xfrm>
            <a:off x="1619250" y="4019550"/>
            <a:ext cx="8858250" cy="571500"/>
          </a:xfrm>
          <a:prstGeom prst="rect">
            <a:avLst/>
          </a:prstGeom>
          <a:solidFill>
            <a:srgbClr val="191920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823CA3BF-E6C7-4E61-AD59-CD2445991E3D}"/>
              </a:ext>
            </a:extLst>
          </p:cNvPr>
          <p:cNvSpPr>
            <a:spLocks noGrp="1"/>
          </p:cNvSpPr>
          <p:nvPr/>
        </p:nvSpPr>
        <p:spPr>
          <a:xfrm>
            <a:off x="1857375" y="411480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Contrato OpenAPI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4D7475E8-F9A3-40F3-9033-929E77139015}"/>
              </a:ext>
            </a:extLst>
          </p:cNvPr>
          <p:cNvSpPr>
            <a:spLocks noGrp="1"/>
          </p:cNvSpPr>
          <p:nvPr/>
        </p:nvSpPr>
        <p:spPr>
          <a:xfrm>
            <a:off x="4953000" y="4143375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Parámetros, cuerpos, respuestas y errores.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4E7C1B8E-4138-4B75-904F-931E44DDA8DE}"/>
              </a:ext>
            </a:extLst>
          </p:cNvPr>
          <p:cNvSpPr>
            <a:spLocks noGrp="1"/>
          </p:cNvSpPr>
          <p:nvPr/>
        </p:nvSpPr>
        <p:spPr>
          <a:xfrm>
            <a:off x="857250" y="4924425"/>
            <a:ext cx="666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7A93AE41-2C81-478A-914C-817D1F103298}"/>
              </a:ext>
            </a:extLst>
          </p:cNvPr>
          <p:cNvSpPr>
            <a:spLocks noGrp="1"/>
          </p:cNvSpPr>
          <p:nvPr/>
        </p:nvSpPr>
        <p:spPr>
          <a:xfrm>
            <a:off x="1619250" y="4857750"/>
            <a:ext cx="8858250" cy="57150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63F822F7-76D8-43E9-894B-1AD2FA76EFFE}"/>
              </a:ext>
            </a:extLst>
          </p:cNvPr>
          <p:cNvSpPr>
            <a:spLocks noGrp="1"/>
          </p:cNvSpPr>
          <p:nvPr/>
        </p:nvSpPr>
        <p:spPr>
          <a:xfrm>
            <a:off x="1857375" y="495300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Demo, cliente y pruebas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CA00AEF3-C78F-4170-A30B-5F10273C096D}"/>
              </a:ext>
            </a:extLst>
          </p:cNvPr>
          <p:cNvSpPr>
            <a:spLocks noGrp="1"/>
          </p:cNvSpPr>
          <p:nvPr/>
        </p:nvSpPr>
        <p:spPr>
          <a:xfrm>
            <a:off x="4953000" y="4981575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Uso real de la API y evidencias de validación.</a:t>
            </a:r>
          </a:p>
        </p:txBody>
      </p:sp>
    </p:spTree>
    <p:extLst>
      <p:ext uri="{BB962C8B-B14F-4D97-AF65-F5344CB8AC3E}">
        <p14:creationId xmlns:p14="http://schemas.microsoft.com/office/powerpoint/2010/main" val="2132691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ángulo 54">
            <a:extLst>
              <a:ext uri="{FF2B5EF4-FFF2-40B4-BE49-F238E27FC236}">
                <a16:creationId xmlns:a16="http://schemas.microsoft.com/office/drawing/2014/main" id="{C9AD0793-FE2E-4FF2-8842-BD8A1F08CE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66B15EF-E77C-463A-B6CF-D02DD4F7D1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94D6E2A-23F4-4F54-84AC-7993061B1080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0E8C78C-36B4-44CC-977E-8CA488DC9F39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4342672-4FD2-4B6C-BC01-09699A6B818E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963148F-6AB4-4532-A25F-E15BCE73C7A6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E4371AD-EF24-47BD-9D48-5B5160F338B2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ADAFED9-52B2-45CA-A64A-24596489C6E2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6D81BEF-FC32-440C-BE80-06F26525C2C1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F49E6F5-D646-41CF-85FE-98C1F8AC2449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D978E4E-43F6-43A7-96C6-81F08300708D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5A6D27A-83F5-4DD7-8829-643B1B474496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9384A86-8E43-4FC7-93EC-9EE74277218F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DAD41DB-206A-43A4-9118-05AA96EC3ADA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5D2E69A-E591-4DC8-8A26-DA8205293AD5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25EB203-B42D-4CED-8800-3719C9D21AB5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2803AE3-B832-44C3-80A2-1ED02581F67E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932AF98-8F86-4017-ABAC-A1439CB16761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EE02E89-1115-4AE0-BDD4-AC22AA865551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AB1E53A-EAA1-4A85-920B-40C7228DC4E8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EB2A4EA-8C00-4BFF-8240-DF1C5F7DC59D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D61E4AC-3360-4E13-817D-4CE413287E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77AB4DF-AC1B-4067-AD17-02DB1B6DD3EE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F93A86B-BDAD-4A9C-9626-4C195AD48CF7}"/>
              </a:ext>
            </a:extLst>
          </p:cNvPr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D861F02-0716-4216-8513-5F5D2DE1FEAF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6F21F98-1396-443C-B031-D64B52141FE6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CFC3F76-8E35-4CFA-83A0-0F325FC2DE9A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BD0A819-D939-4083-88CC-50143B08A4BD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078702D-23E0-4533-B743-4943A88AD4B9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D3E7DCB-377C-433F-9011-EA24A1665EB0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832859B5-255D-453C-A897-6FDE01D63182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36C0CBB5-2277-4D6A-86D9-600D61F9A409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83F63C2-5E8D-4A16-AAA2-63963834FCC2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8572901-7A5A-417B-A3F7-B639ECF153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4946440-8928-4112-84D6-E0934A04CF64}"/>
              </a:ext>
            </a:extLst>
          </p:cNvPr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7B21AC6E-6DA6-4DF5-9730-9A3DC756A303}"/>
              </a:ext>
            </a:extLst>
          </p:cNvPr>
          <p:cNvSpPr>
            <a:spLocks noGrp="1"/>
          </p:cNvSpPr>
          <p:nvPr/>
        </p:nvSpPr>
        <p:spPr>
          <a:xfrm>
            <a:off x="666749" y="695325"/>
            <a:ext cx="9477375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Una API para </a:t>
            </a:r>
            <a:r>
              <a:rPr sz="280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consultar</a:t>
            </a:r>
            <a:r>
              <a:rPr sz="280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 y </a:t>
            </a:r>
            <a:r>
              <a:rPr sz="280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gestionar</a:t>
            </a:r>
            <a:r>
              <a:rPr sz="280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 </a:t>
            </a:r>
            <a:r>
              <a:rPr sz="280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videojuegos</a:t>
            </a:r>
            <a:endParaRPr sz="2800" b="1" dirty="0">
              <a:solidFill>
                <a:srgbClr val="F5F5F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C094D7C4-FC73-4D51-A50F-26CDC4F03E1E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8953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El recurso central es el videojuego. Alrededor se conectan desarrolladores, reviews y países de origen de los estudios, para poder navegar desde una ficha simple hasta una vista enriquecida.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4CF31E3C-9D44-49FB-8D18-07E1FC3DF7E6}"/>
              </a:ext>
            </a:extLst>
          </p:cNvPr>
          <p:cNvSpPr>
            <a:spLocks noGrp="1"/>
          </p:cNvSpPr>
          <p:nvPr/>
        </p:nvSpPr>
        <p:spPr>
          <a:xfrm>
            <a:off x="685800" y="2428875"/>
            <a:ext cx="2381250" cy="23812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CEBE0D2A-12F4-468D-BE21-1BD3CB286DF5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19526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1000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42DF05C9-E56E-444A-B65A-D9BA742BD08A}"/>
              </a:ext>
            </a:extLst>
          </p:cNvPr>
          <p:cNvSpPr>
            <a:spLocks noGrp="1"/>
          </p:cNvSpPr>
          <p:nvPr/>
        </p:nvSpPr>
        <p:spPr>
          <a:xfrm>
            <a:off x="914400" y="34480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videojuegos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22E0A169-B4C8-4AEE-BEE2-1E939718B66F}"/>
              </a:ext>
            </a:extLst>
          </p:cNvPr>
          <p:cNvSpPr>
            <a:spLocks noGrp="1"/>
          </p:cNvSpPr>
          <p:nvPr/>
        </p:nvSpPr>
        <p:spPr>
          <a:xfrm>
            <a:off x="914400" y="3857625"/>
            <a:ext cx="18097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importados desde RAWG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426D54BB-B0E8-456E-9C99-C2447EC2AD4F}"/>
              </a:ext>
            </a:extLst>
          </p:cNvPr>
          <p:cNvSpPr>
            <a:spLocks noGrp="1"/>
          </p:cNvSpPr>
          <p:nvPr/>
        </p:nvSpPr>
        <p:spPr>
          <a:xfrm>
            <a:off x="3467100" y="2428875"/>
            <a:ext cx="2381250" cy="23812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35354E6B-94FB-4646-9D2B-76AED88A081D}"/>
              </a:ext>
            </a:extLst>
          </p:cNvPr>
          <p:cNvSpPr>
            <a:spLocks noGrp="1"/>
          </p:cNvSpPr>
          <p:nvPr/>
        </p:nvSpPr>
        <p:spPr>
          <a:xfrm>
            <a:off x="3676650" y="2781300"/>
            <a:ext cx="19526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3EE7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3EE7FF"/>
                </a:solidFill>
                <a:latin typeface="Aptos"/>
                <a:ea typeface="Aptos"/>
                <a:cs typeface="Aptos"/>
              </a:rPr>
              <a:t>600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C8F6B5A5-6346-4CBE-A699-29BDC6216EC0}"/>
              </a:ext>
            </a:extLst>
          </p:cNvPr>
          <p:cNvSpPr>
            <a:spLocks noGrp="1"/>
          </p:cNvSpPr>
          <p:nvPr/>
        </p:nvSpPr>
        <p:spPr>
          <a:xfrm>
            <a:off x="3695700" y="34480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desarrolladores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2A4531F0-59F5-4C80-9D9C-4A2258798A54}"/>
              </a:ext>
            </a:extLst>
          </p:cNvPr>
          <p:cNvSpPr>
            <a:spLocks noGrp="1"/>
          </p:cNvSpPr>
          <p:nvPr/>
        </p:nvSpPr>
        <p:spPr>
          <a:xfrm>
            <a:off x="3695700" y="3857625"/>
            <a:ext cx="18097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con juegos asociados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DBA6EF6C-1187-433F-AF5F-F1E102498FE4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381250" cy="23812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CF0D3D62-95E2-45C9-83A3-A79B56059604}"/>
              </a:ext>
            </a:extLst>
          </p:cNvPr>
          <p:cNvSpPr>
            <a:spLocks noGrp="1"/>
          </p:cNvSpPr>
          <p:nvPr/>
        </p:nvSpPr>
        <p:spPr>
          <a:xfrm>
            <a:off x="6457950" y="2781300"/>
            <a:ext cx="19526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3504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AFF688F2-A5B3-4DF5-81BC-0B44D3411558}"/>
              </a:ext>
            </a:extLst>
          </p:cNvPr>
          <p:cNvSpPr>
            <a:spLocks noGrp="1"/>
          </p:cNvSpPr>
          <p:nvPr/>
        </p:nvSpPr>
        <p:spPr>
          <a:xfrm>
            <a:off x="6477000" y="34480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reviews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20492A1-2BCC-4C53-BE8D-AA6252A78434}"/>
              </a:ext>
            </a:extLst>
          </p:cNvPr>
          <p:cNvSpPr>
            <a:spLocks noGrp="1"/>
          </p:cNvSpPr>
          <p:nvPr/>
        </p:nvSpPr>
        <p:spPr>
          <a:xfrm>
            <a:off x="6477000" y="3857625"/>
            <a:ext cx="18097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recurso propio editable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B14CE37E-530B-45B6-BB5C-182883257F66}"/>
              </a:ext>
            </a:extLst>
          </p:cNvPr>
          <p:cNvSpPr>
            <a:spLocks noGrp="1"/>
          </p:cNvSpPr>
          <p:nvPr/>
        </p:nvSpPr>
        <p:spPr>
          <a:xfrm>
            <a:off x="9029700" y="2428875"/>
            <a:ext cx="2381250" cy="23812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EECF0EDB-6CD3-443B-8700-74814F348938}"/>
              </a:ext>
            </a:extLst>
          </p:cNvPr>
          <p:cNvSpPr>
            <a:spLocks noGrp="1"/>
          </p:cNvSpPr>
          <p:nvPr/>
        </p:nvSpPr>
        <p:spPr>
          <a:xfrm>
            <a:off x="9239250" y="2781300"/>
            <a:ext cx="19526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3EE7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3EE7FF"/>
                </a:solidFill>
                <a:latin typeface="Aptos"/>
                <a:ea typeface="Aptos"/>
                <a:cs typeface="Aptos"/>
              </a:rPr>
              <a:t>806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8E2F8245-EF8C-49B3-A2D9-D506CC10C683}"/>
              </a:ext>
            </a:extLst>
          </p:cNvPr>
          <p:cNvSpPr>
            <a:spLocks noGrp="1"/>
          </p:cNvSpPr>
          <p:nvPr/>
        </p:nvSpPr>
        <p:spPr>
          <a:xfrm>
            <a:off x="9258300" y="34480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registros XML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69FBAC48-FD26-4808-A19A-AB8865ED8020}"/>
              </a:ext>
            </a:extLst>
          </p:cNvPr>
          <p:cNvSpPr>
            <a:spLocks noGrp="1"/>
          </p:cNvSpPr>
          <p:nvPr/>
        </p:nvSpPr>
        <p:spPr>
          <a:xfrm>
            <a:off x="9258300" y="3857625"/>
            <a:ext cx="18097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país/desarrollador desde Wikidata</a:t>
            </a:r>
          </a:p>
        </p:txBody>
      </p:sp>
    </p:spTree>
    <p:extLst>
      <p:ext uri="{BB962C8B-B14F-4D97-AF65-F5344CB8AC3E}">
        <p14:creationId xmlns:p14="http://schemas.microsoft.com/office/powerpoint/2010/main" val="617707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ángulo 64">
            <a:extLst>
              <a:ext uri="{FF2B5EF4-FFF2-40B4-BE49-F238E27FC236}">
                <a16:creationId xmlns:a16="http://schemas.microsoft.com/office/drawing/2014/main" id="{DBE8CA79-E681-4C45-846B-F429BEA8B862}"/>
              </a:ext>
            </a:extLst>
          </p:cNvPr>
          <p:cNvSpPr>
            <a:spLocks noGrp="1"/>
          </p:cNvSpPr>
          <p:nvPr/>
        </p:nvSpPr>
        <p:spPr>
          <a:xfrm>
            <a:off x="0" y="9525"/>
            <a:ext cx="12192000" cy="6858000"/>
          </a:xfrm>
          <a:prstGeom prst="rect">
            <a:avLst/>
          </a:prstGeom>
          <a:solidFill>
            <a:srgbClr val="1010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7E6D26A-DEF7-4765-87AD-0F4CA7246B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C94E3B8-7290-40A7-BE44-9E2085092E09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56C90FE-442F-42F2-8116-E23A5882669A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CF82694-6893-4C0B-9F7E-CB6277964B46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E4303E4-0E73-40BD-860D-E4CC7A9D0F46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79F2F9B-5C56-4C1C-ABD6-020A140CA604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B459A01-5D6C-4E2B-AC7E-A8227908E45A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C90FC7D-7974-413B-84FA-2DFF85D871DB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4DD10F0-FCA6-4598-81C7-2D2DD1CC990A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DA8DFE6-7EA4-490D-9A78-7662D8D34D6C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C2CBA3E-531A-4970-9150-634E6A6409A0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68BAED9-3B53-4FE3-AB7D-2FAFE555931C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62FA430-E39D-4A40-B8AF-EE2FBA295240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32C33BB-1E37-46B1-8D80-2FDCEAEFA801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4A05E05-5423-4F47-9D41-9172C36D72EC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AB46860-6DE2-4BE7-8F2B-56BC406990F8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EABCF6D-FF1A-4580-9D31-8BE41E80476C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D9C9ED9-B3DE-43CF-8D8D-C004B4301D77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4477CA3-36B2-4683-ADE0-3CB2B6BA7ADA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539C0A3-9D82-4486-92D3-C760C51906F1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0A4FDD5-D700-4429-B499-1DE627D28F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1AAE820-DBF8-4FCC-BFFE-06BA90C89F99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2309EA1-EAB4-4614-9FF8-50CD4F2DD73C}"/>
              </a:ext>
            </a:extLst>
          </p:cNvPr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9BB0A1B-71E5-41DF-8184-9891C2E5C3A8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97220BE-E4BC-4C07-AB01-853017111AFA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86E5B66-FAEC-4F02-A202-CC694C0E3FCE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7B0A69E-053B-4779-BAE1-E5A92D47C928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5C2B6792-5695-4DC3-B951-15D125ED839D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246C653F-3188-44FE-8930-DC5DC30C01B1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5DD4390-1E59-4FF7-BBE5-749DC1F856A5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8DE50C12-5D5A-4AA5-A260-E3BA21D209F7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5658368B-2A7B-4706-B5CA-1A9C31457F0A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9605070-8830-4FEF-9788-BBAC05CACD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707A0F2C-71FB-4CBB-A8BE-C998C2CD87AE}"/>
              </a:ext>
            </a:extLst>
          </p:cNvPr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D3EC9435-EF08-4703-A066-39CA1719CC67}"/>
              </a:ext>
            </a:extLst>
          </p:cNvPr>
          <p:cNvSpPr>
            <a:spLocks noGrp="1"/>
          </p:cNvSpPr>
          <p:nvPr/>
        </p:nvSpPr>
        <p:spPr>
          <a:xfrm>
            <a:off x="676608" y="719138"/>
            <a:ext cx="7048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lang="es-ES" sz="280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Origen de los datos</a:t>
            </a:r>
            <a:endParaRPr sz="2800" b="1" dirty="0">
              <a:solidFill>
                <a:srgbClr val="F5F5F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2D1CD3C2-71C5-4402-AEF7-F636293CC355}"/>
              </a:ext>
            </a:extLst>
          </p:cNvPr>
          <p:cNvSpPr>
            <a:spLocks noGrp="1"/>
          </p:cNvSpPr>
          <p:nvPr/>
        </p:nvSpPr>
        <p:spPr>
          <a:xfrm>
            <a:off x="7953375" y="1095375"/>
            <a:ext cx="3333750" cy="409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F32F7D65-171E-44D4-9419-CA00B0B8B214}"/>
              </a:ext>
            </a:extLst>
          </p:cNvPr>
          <p:cNvSpPr>
            <a:spLocks noGrp="1"/>
          </p:cNvSpPr>
          <p:nvPr/>
        </p:nvSpPr>
        <p:spPr>
          <a:xfrm>
            <a:off x="728663" y="2095500"/>
            <a:ext cx="323850" cy="32385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7345C297-269F-4F98-A39A-71AE65B51B0F}"/>
              </a:ext>
            </a:extLst>
          </p:cNvPr>
          <p:cNvSpPr>
            <a:spLocks noGrp="1"/>
          </p:cNvSpPr>
          <p:nvPr/>
        </p:nvSpPr>
        <p:spPr>
          <a:xfrm>
            <a:off x="804863" y="2152650"/>
            <a:ext cx="190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0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01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08C61CE2-09B2-4F15-84CF-E07F890ECCFD}"/>
              </a:ext>
            </a:extLst>
          </p:cNvPr>
          <p:cNvSpPr>
            <a:spLocks noGrp="1"/>
          </p:cNvSpPr>
          <p:nvPr/>
        </p:nvSpPr>
        <p:spPr>
          <a:xfrm>
            <a:off x="1281113" y="1943100"/>
            <a:ext cx="5572125" cy="609600"/>
          </a:xfrm>
          <a:prstGeom prst="rect">
            <a:avLst/>
          </a:prstGeom>
          <a:solidFill>
            <a:srgbClr val="191920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A8FD36F3-247E-4416-9813-0946E08BB398}"/>
              </a:ext>
            </a:extLst>
          </p:cNvPr>
          <p:cNvSpPr>
            <a:spLocks noGrp="1"/>
          </p:cNvSpPr>
          <p:nvPr/>
        </p:nvSpPr>
        <p:spPr>
          <a:xfrm>
            <a:off x="1490663" y="2047875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RAWG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41E0BB58-0410-41EB-BCFB-392D6B124B9A}"/>
              </a:ext>
            </a:extLst>
          </p:cNvPr>
          <p:cNvSpPr>
            <a:spLocks noGrp="1"/>
          </p:cNvSpPr>
          <p:nvPr/>
        </p:nvSpPr>
        <p:spPr>
          <a:xfrm>
            <a:off x="3043238" y="2066925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Videojuegos y desarrolladores en JSON.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F4876B35-22B7-4B18-9EA8-D14067C975DB}"/>
              </a:ext>
            </a:extLst>
          </p:cNvPr>
          <p:cNvSpPr>
            <a:spLocks noGrp="1"/>
          </p:cNvSpPr>
          <p:nvPr/>
        </p:nvSpPr>
        <p:spPr>
          <a:xfrm>
            <a:off x="728663" y="2819400"/>
            <a:ext cx="323850" cy="32385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B54BFA3C-7DB3-4F8A-BE87-C2965AC26D85}"/>
              </a:ext>
            </a:extLst>
          </p:cNvPr>
          <p:cNvSpPr>
            <a:spLocks noGrp="1"/>
          </p:cNvSpPr>
          <p:nvPr/>
        </p:nvSpPr>
        <p:spPr>
          <a:xfrm>
            <a:off x="804863" y="2876550"/>
            <a:ext cx="190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0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01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32C294DD-E272-4878-848A-9516C9A9774F}"/>
              </a:ext>
            </a:extLst>
          </p:cNvPr>
          <p:cNvSpPr>
            <a:spLocks noGrp="1"/>
          </p:cNvSpPr>
          <p:nvPr/>
        </p:nvSpPr>
        <p:spPr>
          <a:xfrm>
            <a:off x="1281113" y="2667000"/>
            <a:ext cx="5572125" cy="609600"/>
          </a:xfrm>
          <a:prstGeom prst="rect">
            <a:avLst/>
          </a:prstGeom>
          <a:solidFill>
            <a:srgbClr val="191920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2CB054B0-C7CA-4439-92EC-474514842178}"/>
              </a:ext>
            </a:extLst>
          </p:cNvPr>
          <p:cNvSpPr>
            <a:spLocks noGrp="1"/>
          </p:cNvSpPr>
          <p:nvPr/>
        </p:nvSpPr>
        <p:spPr>
          <a:xfrm>
            <a:off x="1490663" y="2771775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35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Wikidata</a:t>
            </a:r>
            <a:endParaRPr sz="1350" b="1" dirty="0">
              <a:solidFill>
                <a:srgbClr val="F5F5F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96495BA0-FF18-409F-BFAE-61E688CF0C51}"/>
              </a:ext>
            </a:extLst>
          </p:cNvPr>
          <p:cNvSpPr>
            <a:spLocks noGrp="1"/>
          </p:cNvSpPr>
          <p:nvPr/>
        </p:nvSpPr>
        <p:spPr>
          <a:xfrm>
            <a:off x="3043238" y="2790825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Países de desarrolladores mediante SPARQL/XML.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7BDE2CD5-8156-4D65-B847-8411692199DA}"/>
              </a:ext>
            </a:extLst>
          </p:cNvPr>
          <p:cNvSpPr>
            <a:spLocks noGrp="1"/>
          </p:cNvSpPr>
          <p:nvPr/>
        </p:nvSpPr>
        <p:spPr>
          <a:xfrm>
            <a:off x="728663" y="3543300"/>
            <a:ext cx="323850" cy="32385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6EEAD3DF-BBF6-4264-9739-A1103F723594}"/>
              </a:ext>
            </a:extLst>
          </p:cNvPr>
          <p:cNvSpPr>
            <a:spLocks noGrp="1"/>
          </p:cNvSpPr>
          <p:nvPr/>
        </p:nvSpPr>
        <p:spPr>
          <a:xfrm>
            <a:off x="804863" y="3600450"/>
            <a:ext cx="190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0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01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4ADC9ACC-1911-4D83-A32F-CB980EDDD7A8}"/>
              </a:ext>
            </a:extLst>
          </p:cNvPr>
          <p:cNvSpPr>
            <a:spLocks noGrp="1"/>
          </p:cNvSpPr>
          <p:nvPr/>
        </p:nvSpPr>
        <p:spPr>
          <a:xfrm>
            <a:off x="1281113" y="3390900"/>
            <a:ext cx="5572125" cy="609600"/>
          </a:xfrm>
          <a:prstGeom prst="rect">
            <a:avLst/>
          </a:prstGeom>
          <a:solidFill>
            <a:srgbClr val="191920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0EC4AED4-2528-41F6-A458-902BE14F659A}"/>
              </a:ext>
            </a:extLst>
          </p:cNvPr>
          <p:cNvSpPr>
            <a:spLocks noGrp="1"/>
          </p:cNvSpPr>
          <p:nvPr/>
        </p:nvSpPr>
        <p:spPr>
          <a:xfrm>
            <a:off x="1490663" y="3495675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Datasets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883D3678-50E6-45EB-9D18-A22CDD9A9F22}"/>
              </a:ext>
            </a:extLst>
          </p:cNvPr>
          <p:cNvSpPr>
            <a:spLocks noGrp="1"/>
          </p:cNvSpPr>
          <p:nvPr/>
        </p:nvSpPr>
        <p:spPr>
          <a:xfrm>
            <a:off x="3043238" y="3514725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Archivos locales versionados en el proyecto.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D165E075-C75D-41BF-AABA-D40188B5712B}"/>
              </a:ext>
            </a:extLst>
          </p:cNvPr>
          <p:cNvSpPr>
            <a:spLocks noGrp="1"/>
          </p:cNvSpPr>
          <p:nvPr/>
        </p:nvSpPr>
        <p:spPr>
          <a:xfrm>
            <a:off x="728663" y="4267200"/>
            <a:ext cx="323850" cy="32385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888BFFC3-7941-40A6-8213-C320BAE47F4E}"/>
              </a:ext>
            </a:extLst>
          </p:cNvPr>
          <p:cNvSpPr>
            <a:spLocks noGrp="1"/>
          </p:cNvSpPr>
          <p:nvPr/>
        </p:nvSpPr>
        <p:spPr>
          <a:xfrm>
            <a:off x="804863" y="4324350"/>
            <a:ext cx="190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0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01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1DE34740-F594-43B2-97FD-88E398C2F01D}"/>
              </a:ext>
            </a:extLst>
          </p:cNvPr>
          <p:cNvSpPr>
            <a:spLocks noGrp="1"/>
          </p:cNvSpPr>
          <p:nvPr/>
        </p:nvSpPr>
        <p:spPr>
          <a:xfrm>
            <a:off x="1281113" y="4114800"/>
            <a:ext cx="5572125" cy="609600"/>
          </a:xfrm>
          <a:prstGeom prst="rect">
            <a:avLst/>
          </a:prstGeom>
          <a:solidFill>
            <a:srgbClr val="191920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860D51DD-C8F9-42A0-A362-032E2FF0BB92}"/>
              </a:ext>
            </a:extLst>
          </p:cNvPr>
          <p:cNvSpPr>
            <a:spLocks noGrp="1"/>
          </p:cNvSpPr>
          <p:nvPr/>
        </p:nvSpPr>
        <p:spPr>
          <a:xfrm>
            <a:off x="1490663" y="4219575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MongoDB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4BFA1E1A-7EF9-4625-B23B-73A56FAF4BB1}"/>
              </a:ext>
            </a:extLst>
          </p:cNvPr>
          <p:cNvSpPr>
            <a:spLocks noGrp="1"/>
          </p:cNvSpPr>
          <p:nvPr/>
        </p:nvSpPr>
        <p:spPr>
          <a:xfrm>
            <a:off x="3043238" y="4238625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Colecciones cargadas desde seeds.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F30A8D00-7EA2-4B85-BC12-2CE6FB122629}"/>
              </a:ext>
            </a:extLst>
          </p:cNvPr>
          <p:cNvSpPr>
            <a:spLocks noGrp="1"/>
          </p:cNvSpPr>
          <p:nvPr/>
        </p:nvSpPr>
        <p:spPr>
          <a:xfrm>
            <a:off x="728663" y="4991100"/>
            <a:ext cx="323850" cy="32385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3C705A80-C879-4ADA-BB61-6632643B712D}"/>
              </a:ext>
            </a:extLst>
          </p:cNvPr>
          <p:cNvSpPr>
            <a:spLocks noGrp="1"/>
          </p:cNvSpPr>
          <p:nvPr/>
        </p:nvSpPr>
        <p:spPr>
          <a:xfrm>
            <a:off x="804863" y="5048250"/>
            <a:ext cx="190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10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01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C8DF4464-A62A-4A2B-8121-08BCF54CCC87}"/>
              </a:ext>
            </a:extLst>
          </p:cNvPr>
          <p:cNvSpPr>
            <a:spLocks noGrp="1"/>
          </p:cNvSpPr>
          <p:nvPr/>
        </p:nvSpPr>
        <p:spPr>
          <a:xfrm>
            <a:off x="1281113" y="4838700"/>
            <a:ext cx="5572125" cy="609600"/>
          </a:xfrm>
          <a:prstGeom prst="rect">
            <a:avLst/>
          </a:prstGeom>
          <a:solidFill>
            <a:srgbClr val="191920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6B4BBB58-33FE-4B6B-BD38-245D641B00B9}"/>
              </a:ext>
            </a:extLst>
          </p:cNvPr>
          <p:cNvSpPr>
            <a:spLocks noGrp="1"/>
          </p:cNvSpPr>
          <p:nvPr/>
        </p:nvSpPr>
        <p:spPr>
          <a:xfrm>
            <a:off x="1490663" y="4943475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API REST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C0E544B7-074F-464B-A3EA-781BA6F9AEB4}"/>
              </a:ext>
            </a:extLst>
          </p:cNvPr>
          <p:cNvSpPr>
            <a:spLocks noGrp="1"/>
          </p:cNvSpPr>
          <p:nvPr/>
        </p:nvSpPr>
        <p:spPr>
          <a:xfrm>
            <a:off x="3043238" y="4962525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Respuestas JSON y XML sin depender de red externa en cada petición.</a:t>
            </a:r>
          </a:p>
        </p:txBody>
      </p:sp>
      <p:pic>
        <p:nvPicPr>
          <p:cNvPr id="64" name="Imagen 63"/>
          <p:cNvPicPr>
            <a:picLocks noChangeAspect="1"/>
          </p:cNvPicPr>
          <p:nvPr/>
        </p:nvPicPr>
        <p:blipFill>
          <a:blip r:embed="rId3"/>
          <a:srcRect l="27108" r="27108"/>
          <a:stretch>
            <a:fillRect/>
          </a:stretch>
        </p:blipFill>
        <p:spPr>
          <a:xfrm>
            <a:off x="7715250" y="1362075"/>
            <a:ext cx="333375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03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ángulo 61">
            <a:extLst>
              <a:ext uri="{FF2B5EF4-FFF2-40B4-BE49-F238E27FC236}">
                <a16:creationId xmlns:a16="http://schemas.microsoft.com/office/drawing/2014/main" id="{D7DB1C4C-64BC-4DFB-A60F-147761201A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21E2C55-0E37-4314-8AA2-5503F75C21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8668880-8B8F-43E5-8AA8-8612C76C1BC6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C96D141-2468-4E74-90F1-A2C7E475D43D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8AA8E61-7DA7-41A5-AAAD-03D70667F8F3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C167D9B-7D76-4F96-B594-847023D8D787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ED38B83-49C5-4EC7-B469-7505358F713C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8E5B485-D1F4-456C-B1D9-1E48886EA05E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295C418-8D2D-4371-85A4-3B7F9D5002CD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E78B0B9-99BA-4ABB-B54E-321FCBF5BB51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D6B6F75-0B35-4CAF-AB5A-A472F268C2EE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F6BAC30-5407-43DF-B399-6639E517B522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7D341C1-E389-494C-81AE-CE4C5213797E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1492FD5-2DBE-410C-BC9C-AB003CA30EDD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0574022-922A-4D36-B27A-D9135A94DFAE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ECE5BAD-99E9-453C-B84A-D98B9543DE34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2364843-57A8-481F-84F7-5B2278B7251A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93C9659-BA2A-4E77-A886-668CBBCF3F23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2585EE5-4EFE-40C3-B461-F85BCBBB57E5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B7C425E-CBDB-43A3-B7B4-EBFAC3523CCA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4AB96C9-3AB5-4A73-B69B-9CEF74F62C29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C399C4C-A5FA-441C-A620-05E38AFB89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967F34F-11A7-44EA-A4C6-3A485A4C4195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611CD05-B2F1-4FC4-B67D-881E946F5A35}"/>
              </a:ext>
            </a:extLst>
          </p:cNvPr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A759B829-FD2E-49D7-B4F2-2908D12B2962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A3C2F77-3DD8-4957-9A06-71B555D24008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581EBCB-16CA-4D82-935E-16C0B35748B6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5A4A408-CA44-4974-A81D-680D0D00A060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39B670A-71F5-4D94-B412-BBA4A1A26654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36FC1E52-4D90-4A8C-A5C1-8F5098671C18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67AC9CE-DCCA-4513-9344-8E79BADF46EB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35B790BA-A5B4-4474-8972-C792EA6BC7E2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EB5E8B4C-4AC6-4872-B2F7-CDD559A3729A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1B89F17C-BDA7-45F9-ADAF-A2BE62E257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91D596F9-9BF1-4B09-A263-0E949A9DC045}"/>
              </a:ext>
            </a:extLst>
          </p:cNvPr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2513D72E-C84C-4E18-AFA0-9CCB213575E9}"/>
              </a:ext>
            </a:extLst>
          </p:cNvPr>
          <p:cNvSpPr>
            <a:spLocks noGrp="1"/>
          </p:cNvSpPr>
          <p:nvPr/>
        </p:nvSpPr>
        <p:spPr>
          <a:xfrm>
            <a:off x="671180" y="1109663"/>
            <a:ext cx="7048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280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Flujo</a:t>
            </a:r>
            <a:r>
              <a:rPr sz="280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 real de la </a:t>
            </a:r>
            <a:r>
              <a:rPr sz="280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aplicación</a:t>
            </a:r>
            <a:endParaRPr sz="2800" b="1" dirty="0">
              <a:solidFill>
                <a:srgbClr val="F5F5F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48B2FDF3-B1B7-452F-BCC3-D6CC5D3102F4}"/>
              </a:ext>
            </a:extLst>
          </p:cNvPr>
          <p:cNvSpPr>
            <a:spLocks noGrp="1"/>
          </p:cNvSpPr>
          <p:nvPr/>
        </p:nvSpPr>
        <p:spPr>
          <a:xfrm>
            <a:off x="422644" y="2738437"/>
            <a:ext cx="1809750" cy="1381125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99F25360-2654-4402-BED1-1E322DBBF75C}"/>
              </a:ext>
            </a:extLst>
          </p:cNvPr>
          <p:cNvSpPr>
            <a:spLocks noGrp="1"/>
          </p:cNvSpPr>
          <p:nvPr/>
        </p:nvSpPr>
        <p:spPr>
          <a:xfrm>
            <a:off x="604727" y="2995612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Fuentes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0D57B9E-20C8-42F4-A7BF-D43C9F68E068}"/>
              </a:ext>
            </a:extLst>
          </p:cNvPr>
          <p:cNvSpPr>
            <a:spLocks noGrp="1"/>
          </p:cNvSpPr>
          <p:nvPr/>
        </p:nvSpPr>
        <p:spPr>
          <a:xfrm>
            <a:off x="594094" y="3405187"/>
            <a:ext cx="1428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B8B8C8"/>
                </a:solidFill>
                <a:latin typeface="Aptos"/>
                <a:ea typeface="Aptos"/>
                <a:cs typeface="Aptos"/>
              </a:rPr>
              <a:t>RAWG JSON</a:t>
            </a:r>
          </a:p>
          <a:p>
            <a:pPr algn="l">
              <a:defRPr sz="135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350" b="0" dirty="0" err="1">
                <a:solidFill>
                  <a:srgbClr val="B8B8C8"/>
                </a:solidFill>
                <a:latin typeface="Aptos"/>
                <a:ea typeface="Aptos"/>
                <a:cs typeface="Aptos"/>
              </a:rPr>
              <a:t>Wikidata</a:t>
            </a:r>
            <a:r>
              <a:rPr sz="1350" b="0" dirty="0">
                <a:solidFill>
                  <a:srgbClr val="B8B8C8"/>
                </a:solidFill>
                <a:latin typeface="Aptos"/>
                <a:ea typeface="Aptos"/>
                <a:cs typeface="Aptos"/>
              </a:rPr>
              <a:t> XML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A605C60F-F9A4-48D4-81F9-9706B7578FD5}"/>
              </a:ext>
            </a:extLst>
          </p:cNvPr>
          <p:cNvSpPr>
            <a:spLocks noGrp="1"/>
          </p:cNvSpPr>
          <p:nvPr/>
        </p:nvSpPr>
        <p:spPr>
          <a:xfrm>
            <a:off x="2327644" y="3328987"/>
            <a:ext cx="685800" cy="381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5034E57F-2297-4689-997A-0B55069557C7}"/>
              </a:ext>
            </a:extLst>
          </p:cNvPr>
          <p:cNvSpPr>
            <a:spLocks noGrp="1"/>
          </p:cNvSpPr>
          <p:nvPr/>
        </p:nvSpPr>
        <p:spPr>
          <a:xfrm>
            <a:off x="3086100" y="2857500"/>
            <a:ext cx="171450" cy="2667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FA2893AB-772F-49AF-B914-CD13367DD9B1}"/>
              </a:ext>
            </a:extLst>
          </p:cNvPr>
          <p:cNvSpPr>
            <a:spLocks noGrp="1"/>
          </p:cNvSpPr>
          <p:nvPr/>
        </p:nvSpPr>
        <p:spPr>
          <a:xfrm>
            <a:off x="2708644" y="2738437"/>
            <a:ext cx="1809750" cy="1381125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0499A8D6-07DC-4158-A981-39CCD94CBBF7}"/>
              </a:ext>
            </a:extLst>
          </p:cNvPr>
          <p:cNvSpPr>
            <a:spLocks noGrp="1"/>
          </p:cNvSpPr>
          <p:nvPr/>
        </p:nvSpPr>
        <p:spPr>
          <a:xfrm>
            <a:off x="2880094" y="2995612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Carga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F7AD11AD-E606-40FE-9B4D-7ADF50D20D56}"/>
              </a:ext>
            </a:extLst>
          </p:cNvPr>
          <p:cNvSpPr>
            <a:spLocks noGrp="1"/>
          </p:cNvSpPr>
          <p:nvPr/>
        </p:nvSpPr>
        <p:spPr>
          <a:xfrm>
            <a:off x="2880094" y="3405187"/>
            <a:ext cx="1428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datasets locales</a:t>
            </a:r>
          </a:p>
          <a:p>
            <a:pPr algn="l">
              <a:defRPr sz="135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seeds npm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A3EE981E-201F-428C-9FD8-4D904536061A}"/>
              </a:ext>
            </a:extLst>
          </p:cNvPr>
          <p:cNvSpPr>
            <a:spLocks noGrp="1"/>
          </p:cNvSpPr>
          <p:nvPr/>
        </p:nvSpPr>
        <p:spPr>
          <a:xfrm>
            <a:off x="4613644" y="3328987"/>
            <a:ext cx="685800" cy="381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D0CAE1A5-04CF-4972-8D97-D1868C8BBF31}"/>
              </a:ext>
            </a:extLst>
          </p:cNvPr>
          <p:cNvSpPr>
            <a:spLocks noGrp="1"/>
          </p:cNvSpPr>
          <p:nvPr/>
        </p:nvSpPr>
        <p:spPr>
          <a:xfrm>
            <a:off x="5372100" y="2857500"/>
            <a:ext cx="171450" cy="2667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453D2EFF-A294-4C6D-B2E6-3E56049E7980}"/>
              </a:ext>
            </a:extLst>
          </p:cNvPr>
          <p:cNvSpPr>
            <a:spLocks noGrp="1"/>
          </p:cNvSpPr>
          <p:nvPr/>
        </p:nvSpPr>
        <p:spPr>
          <a:xfrm>
            <a:off x="4994644" y="2738437"/>
            <a:ext cx="1809750" cy="1381125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F155379D-5434-4CAB-A412-00D7EFE4AF20}"/>
              </a:ext>
            </a:extLst>
          </p:cNvPr>
          <p:cNvSpPr>
            <a:spLocks noGrp="1"/>
          </p:cNvSpPr>
          <p:nvPr/>
        </p:nvSpPr>
        <p:spPr>
          <a:xfrm>
            <a:off x="5166094" y="2995612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Persistencia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306FF257-39E2-4D87-9B4C-3118812F99C7}"/>
              </a:ext>
            </a:extLst>
          </p:cNvPr>
          <p:cNvSpPr>
            <a:spLocks noGrp="1"/>
          </p:cNvSpPr>
          <p:nvPr/>
        </p:nvSpPr>
        <p:spPr>
          <a:xfrm>
            <a:off x="5166094" y="3405187"/>
            <a:ext cx="1428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MongoDB</a:t>
            </a:r>
          </a:p>
          <a:p>
            <a:pPr algn="l">
              <a:defRPr sz="135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4 colecciones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067F9849-AF43-43C9-A660-D4A1B934BD70}"/>
              </a:ext>
            </a:extLst>
          </p:cNvPr>
          <p:cNvSpPr>
            <a:spLocks noGrp="1"/>
          </p:cNvSpPr>
          <p:nvPr/>
        </p:nvSpPr>
        <p:spPr>
          <a:xfrm>
            <a:off x="6899644" y="3328987"/>
            <a:ext cx="685800" cy="381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D2B80039-7432-4D9D-B801-C506D4EB87DC}"/>
              </a:ext>
            </a:extLst>
          </p:cNvPr>
          <p:cNvSpPr>
            <a:spLocks noGrp="1"/>
          </p:cNvSpPr>
          <p:nvPr/>
        </p:nvSpPr>
        <p:spPr>
          <a:xfrm>
            <a:off x="7658100" y="2857500"/>
            <a:ext cx="171450" cy="2667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B2851C01-69A8-426B-8209-7DC835FE7CF4}"/>
              </a:ext>
            </a:extLst>
          </p:cNvPr>
          <p:cNvSpPr>
            <a:spLocks noGrp="1"/>
          </p:cNvSpPr>
          <p:nvPr/>
        </p:nvSpPr>
        <p:spPr>
          <a:xfrm>
            <a:off x="7280644" y="2738437"/>
            <a:ext cx="1809750" cy="1381125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D7484C5B-F79E-4209-B9B6-A0ABEF97D517}"/>
              </a:ext>
            </a:extLst>
          </p:cNvPr>
          <p:cNvSpPr>
            <a:spLocks noGrp="1"/>
          </p:cNvSpPr>
          <p:nvPr/>
        </p:nvSpPr>
        <p:spPr>
          <a:xfrm>
            <a:off x="7452094" y="2995612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A9EC8D71-FB39-48E3-BB44-27D4A821346D}"/>
              </a:ext>
            </a:extLst>
          </p:cNvPr>
          <p:cNvSpPr>
            <a:spLocks noGrp="1"/>
          </p:cNvSpPr>
          <p:nvPr/>
        </p:nvSpPr>
        <p:spPr>
          <a:xfrm>
            <a:off x="7452094" y="3405187"/>
            <a:ext cx="1428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rutas REST</a:t>
            </a:r>
          </a:p>
          <a:p>
            <a:pPr algn="l">
              <a:defRPr sz="135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validación y errores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C1754897-FD09-4AFE-90C4-523CFBEB5D72}"/>
              </a:ext>
            </a:extLst>
          </p:cNvPr>
          <p:cNvSpPr>
            <a:spLocks noGrp="1"/>
          </p:cNvSpPr>
          <p:nvPr/>
        </p:nvSpPr>
        <p:spPr>
          <a:xfrm>
            <a:off x="9185644" y="3328987"/>
            <a:ext cx="685800" cy="381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89242136-B221-4AA3-AA09-A06BF4645915}"/>
              </a:ext>
            </a:extLst>
          </p:cNvPr>
          <p:cNvSpPr>
            <a:spLocks noGrp="1"/>
          </p:cNvSpPr>
          <p:nvPr/>
        </p:nvSpPr>
        <p:spPr>
          <a:xfrm>
            <a:off x="9944100" y="2857500"/>
            <a:ext cx="171450" cy="2667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4D65019B-7CF1-47AA-BEEB-345B463FBD46}"/>
              </a:ext>
            </a:extLst>
          </p:cNvPr>
          <p:cNvSpPr>
            <a:spLocks noGrp="1"/>
          </p:cNvSpPr>
          <p:nvPr/>
        </p:nvSpPr>
        <p:spPr>
          <a:xfrm>
            <a:off x="9566644" y="2738437"/>
            <a:ext cx="1809750" cy="1381125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5D4C7648-AC8C-4EFA-A342-71E070C97738}"/>
              </a:ext>
            </a:extLst>
          </p:cNvPr>
          <p:cNvSpPr>
            <a:spLocks noGrp="1"/>
          </p:cNvSpPr>
          <p:nvPr/>
        </p:nvSpPr>
        <p:spPr>
          <a:xfrm>
            <a:off x="9738094" y="2995612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Cliente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6DF3993F-14C8-4440-AB68-892BB9B4716A}"/>
              </a:ext>
            </a:extLst>
          </p:cNvPr>
          <p:cNvSpPr>
            <a:spLocks noGrp="1"/>
          </p:cNvSpPr>
          <p:nvPr/>
        </p:nvSpPr>
        <p:spPr>
          <a:xfrm>
            <a:off x="9738094" y="3405187"/>
            <a:ext cx="1428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SPA web</a:t>
            </a:r>
          </a:p>
          <a:p>
            <a:pPr algn="l">
              <a:defRPr sz="135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búsqueda, detalle y CRUD</a:t>
            </a:r>
          </a:p>
        </p:txBody>
      </p:sp>
    </p:spTree>
    <p:extLst>
      <p:ext uri="{BB962C8B-B14F-4D97-AF65-F5344CB8AC3E}">
        <p14:creationId xmlns:p14="http://schemas.microsoft.com/office/powerpoint/2010/main" val="1468293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ángulo 56">
            <a:extLst>
              <a:ext uri="{FF2B5EF4-FFF2-40B4-BE49-F238E27FC236}">
                <a16:creationId xmlns:a16="http://schemas.microsoft.com/office/drawing/2014/main" id="{819D1188-54D1-4638-ABAC-C5DC25A9D8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152F672-7CA5-4017-8DE6-5F7701BBA1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5751929-65A2-4003-9446-CB912716B8F4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08465FF-121D-48FE-9E69-DC5F04CB3D00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B28C14E-E17A-4393-BF83-292DFCDE2E36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16BEB5C-8279-4AB6-A0C9-236AA8803CDD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AEC94CD-108B-417C-B593-F9809E3D8464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A94D087-E96D-4374-B2EC-F5A32974894F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190D853-20F5-4A7A-B4B4-BEA6FD16EE32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F6D11DF-422D-4F7E-9B35-403A323B2040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BEB3075-4921-43DA-B9A8-EDDA6A90D5AC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B071AC5-75EE-4678-AE25-43DDA746C0ED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736E2EC-3EAA-4A55-837D-0D3ADD93B689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405E6A2-A6CC-4D66-BB19-7B7D6BEEE9E9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93EF444-0E0B-4BE6-9846-14AB9DDE4AEE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A88A54C-5062-4E7C-9B62-6A27BF5E9305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F8B7CAF-9791-4F72-84EC-5BFA10B6C62A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0E1DC0E-A87F-4C63-8C62-B3C43D9D2C01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E572E80-C1F2-4C9E-9797-0770EED31219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8C715E4-3DF7-48ED-BF30-2A088178CC68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E76B267-7C25-4EC8-B566-C51AFA1D92EE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176F75C-E238-43AD-BB20-EE2CECFFDB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7226C92-69E5-4EDA-AD21-889789E2113C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C7DBC9AE-D9DC-4B24-B669-94729CA34943}"/>
              </a:ext>
            </a:extLst>
          </p:cNvPr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430E85C-E079-4902-AA3B-6A3D448F90CD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9B62E34-60A0-4C5D-9958-7CE9D5D933A4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65A004E-F146-4DC6-B6ED-22C1AEC51687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D123195-F17D-432F-A886-C9F368F064F1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6D68D88-F735-4B93-ADE8-4D52B52B3B29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D4FEAC1-E780-4639-B9FF-006C5E8CF855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BFF7C9C-E364-45C7-9E33-D0943613D509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BBA9B490-BBE9-4AC3-BB62-1A147A7C38B0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0587B1D-4B5E-45A5-8988-C15395999CE4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696A2AF6-3A87-4C96-8CD1-F68424318B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F9740E6B-954A-4AEE-927E-49CA339191DA}"/>
              </a:ext>
            </a:extLst>
          </p:cNvPr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455A9B3E-07C7-463B-A4AD-86478CEC97DE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C8FF3D"/>
                </a:solidFill>
                <a:latin typeface="Aptos"/>
                <a:ea typeface="Aptos"/>
                <a:cs typeface="Aptos"/>
              </a:rPr>
              <a:t>Modelo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712D0FB6-0091-4F23-8998-2AEA3EDAA267}"/>
              </a:ext>
            </a:extLst>
          </p:cNvPr>
          <p:cNvSpPr>
            <a:spLocks noGrp="1"/>
          </p:cNvSpPr>
          <p:nvPr/>
        </p:nvSpPr>
        <p:spPr>
          <a:xfrm>
            <a:off x="666750" y="695325"/>
            <a:ext cx="7048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Cuatro colecciones conectadas por IDs públicos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D654F661-62CA-4BAA-84EA-E039C3F6D118}"/>
              </a:ext>
            </a:extLst>
          </p:cNvPr>
          <p:cNvSpPr>
            <a:spLocks noGrp="1"/>
          </p:cNvSpPr>
          <p:nvPr/>
        </p:nvSpPr>
        <p:spPr>
          <a:xfrm>
            <a:off x="676275" y="1719263"/>
            <a:ext cx="4762500" cy="12382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E6CAF4B5-751F-4407-B501-CA455A778489}"/>
              </a:ext>
            </a:extLst>
          </p:cNvPr>
          <p:cNvSpPr>
            <a:spLocks noGrp="1"/>
          </p:cNvSpPr>
          <p:nvPr/>
        </p:nvSpPr>
        <p:spPr>
          <a:xfrm>
            <a:off x="904875" y="1909763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videogames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1B7C7945-722B-426C-BFEE-06025B687361}"/>
              </a:ext>
            </a:extLst>
          </p:cNvPr>
          <p:cNvSpPr>
            <a:spLocks noGrp="1"/>
          </p:cNvSpPr>
          <p:nvPr/>
        </p:nvSpPr>
        <p:spPr>
          <a:xfrm>
            <a:off x="904875" y="2233613"/>
            <a:ext cx="419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id, name, rating, platforms, genres, stores, developers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ABC9CE3E-E730-48AB-ABC0-02083994FFE7}"/>
              </a:ext>
            </a:extLst>
          </p:cNvPr>
          <p:cNvSpPr>
            <a:spLocks noGrp="1"/>
          </p:cNvSpPr>
          <p:nvPr/>
        </p:nvSpPr>
        <p:spPr>
          <a:xfrm>
            <a:off x="904875" y="2557463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Recurso principal y volumen del proyecto.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53EDCDB6-8989-40C6-A887-CF999A8CA9B8}"/>
              </a:ext>
            </a:extLst>
          </p:cNvPr>
          <p:cNvSpPr>
            <a:spLocks noGrp="1"/>
          </p:cNvSpPr>
          <p:nvPr/>
        </p:nvSpPr>
        <p:spPr>
          <a:xfrm>
            <a:off x="6105525" y="1719263"/>
            <a:ext cx="4762500" cy="12382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EB0CC14C-9FCB-480E-8430-04A2C056789E}"/>
              </a:ext>
            </a:extLst>
          </p:cNvPr>
          <p:cNvSpPr>
            <a:spLocks noGrp="1"/>
          </p:cNvSpPr>
          <p:nvPr/>
        </p:nvSpPr>
        <p:spPr>
          <a:xfrm>
            <a:off x="6334125" y="1909763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EE7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EE7FF"/>
                </a:solidFill>
                <a:latin typeface="Aptos"/>
                <a:ea typeface="Aptos"/>
                <a:cs typeface="Aptos"/>
              </a:rPr>
              <a:t>developers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A856FD6-D2C8-42FC-809E-FEC37A07397F}"/>
              </a:ext>
            </a:extLst>
          </p:cNvPr>
          <p:cNvSpPr>
            <a:spLocks noGrp="1"/>
          </p:cNvSpPr>
          <p:nvPr/>
        </p:nvSpPr>
        <p:spPr>
          <a:xfrm>
            <a:off x="6334125" y="2233613"/>
            <a:ext cx="419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id, name, slug, games[]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A9E3F4D9-8D0A-4D03-BB66-64F6B9017C31}"/>
              </a:ext>
            </a:extLst>
          </p:cNvPr>
          <p:cNvSpPr>
            <a:spLocks noGrp="1"/>
          </p:cNvSpPr>
          <p:nvPr/>
        </p:nvSpPr>
        <p:spPr>
          <a:xfrm>
            <a:off x="6334125" y="2557463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Cada desarrollador guarda juegos relacionados.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396A5F52-C8FD-4A35-9973-7D911F28E8A8}"/>
              </a:ext>
            </a:extLst>
          </p:cNvPr>
          <p:cNvSpPr>
            <a:spLocks noGrp="1"/>
          </p:cNvSpPr>
          <p:nvPr/>
        </p:nvSpPr>
        <p:spPr>
          <a:xfrm>
            <a:off x="676275" y="3338513"/>
            <a:ext cx="4762500" cy="12382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B57A3850-E43D-4A06-B82F-D5C739FB4CDE}"/>
              </a:ext>
            </a:extLst>
          </p:cNvPr>
          <p:cNvSpPr>
            <a:spLocks noGrp="1"/>
          </p:cNvSpPr>
          <p:nvPr/>
        </p:nvSpPr>
        <p:spPr>
          <a:xfrm>
            <a:off x="904875" y="3529013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EE7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EE7FF"/>
                </a:solidFill>
                <a:latin typeface="Aptos"/>
                <a:ea typeface="Aptos"/>
                <a:cs typeface="Aptos"/>
              </a:rPr>
              <a:t>reviews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8A543F14-784D-4ED5-B330-21113A5804F2}"/>
              </a:ext>
            </a:extLst>
          </p:cNvPr>
          <p:cNvSpPr>
            <a:spLocks noGrp="1"/>
          </p:cNvSpPr>
          <p:nvPr/>
        </p:nvSpPr>
        <p:spPr>
          <a:xfrm>
            <a:off x="904875" y="3852863"/>
            <a:ext cx="419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id, gameId, gameName, rating, comment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4A4C262E-5A8E-43D3-85F5-C8C515C9EF25}"/>
              </a:ext>
            </a:extLst>
          </p:cNvPr>
          <p:cNvSpPr>
            <a:spLocks noGrp="1"/>
          </p:cNvSpPr>
          <p:nvPr/>
        </p:nvSpPr>
        <p:spPr>
          <a:xfrm>
            <a:off x="904875" y="4176713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Recurso propio para crear, editar y borrar.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5C21990D-EC0B-4400-83FE-B6C9A448FA3B}"/>
              </a:ext>
            </a:extLst>
          </p:cNvPr>
          <p:cNvSpPr>
            <a:spLocks noGrp="1"/>
          </p:cNvSpPr>
          <p:nvPr/>
        </p:nvSpPr>
        <p:spPr>
          <a:xfrm>
            <a:off x="6105525" y="3338513"/>
            <a:ext cx="4762500" cy="12382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972B4B9B-1E23-445C-8F06-6AE36E6E0BA7}"/>
              </a:ext>
            </a:extLst>
          </p:cNvPr>
          <p:cNvSpPr>
            <a:spLocks noGrp="1"/>
          </p:cNvSpPr>
          <p:nvPr/>
        </p:nvSpPr>
        <p:spPr>
          <a:xfrm>
            <a:off x="6334125" y="3529013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EE7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EE7FF"/>
                </a:solidFill>
                <a:latin typeface="Aptos"/>
                <a:ea typeface="Aptos"/>
                <a:cs typeface="Aptos"/>
              </a:rPr>
              <a:t>countries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077CA0F5-39C3-4B58-8A3D-623B1B81BAAC}"/>
              </a:ext>
            </a:extLst>
          </p:cNvPr>
          <p:cNvSpPr>
            <a:spLocks noGrp="1"/>
          </p:cNvSpPr>
          <p:nvPr/>
        </p:nvSpPr>
        <p:spPr>
          <a:xfrm>
            <a:off x="6334125" y="3852863"/>
            <a:ext cx="419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gameId, gameName, developer, country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6ED65A15-3938-4307-B38C-7FC99643892C}"/>
              </a:ext>
            </a:extLst>
          </p:cNvPr>
          <p:cNvSpPr>
            <a:spLocks noGrp="1"/>
          </p:cNvSpPr>
          <p:nvPr/>
        </p:nvSpPr>
        <p:spPr>
          <a:xfrm>
            <a:off x="6334125" y="4176713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Relación XML entre juego, estudio y país.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C13B70BE-C1B3-4A9D-A03A-B22B974D0E80}"/>
              </a:ext>
            </a:extLst>
          </p:cNvPr>
          <p:cNvSpPr>
            <a:spLocks noGrp="1"/>
          </p:cNvSpPr>
          <p:nvPr/>
        </p:nvSpPr>
        <p:spPr>
          <a:xfrm>
            <a:off x="895350" y="5095875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reviews.gameId -&gt; videogames.id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4A319567-A36F-4347-BA79-C714971CBD8B}"/>
              </a:ext>
            </a:extLst>
          </p:cNvPr>
          <p:cNvSpPr>
            <a:spLocks noGrp="1"/>
          </p:cNvSpPr>
          <p:nvPr/>
        </p:nvSpPr>
        <p:spPr>
          <a:xfrm>
            <a:off x="4324350" y="5095875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countries.gameId -&gt; videogames.id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9171C4A0-7A19-4BD2-A39E-6DB131FAA2CD}"/>
              </a:ext>
            </a:extLst>
          </p:cNvPr>
          <p:cNvSpPr>
            <a:spLocks noGrp="1"/>
          </p:cNvSpPr>
          <p:nvPr/>
        </p:nvSpPr>
        <p:spPr>
          <a:xfrm>
            <a:off x="7753350" y="5095875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developers.games[].id -&gt; videogames.id</a:t>
            </a:r>
          </a:p>
        </p:txBody>
      </p:sp>
    </p:spTree>
    <p:extLst>
      <p:ext uri="{BB962C8B-B14F-4D97-AF65-F5344CB8AC3E}">
        <p14:creationId xmlns:p14="http://schemas.microsoft.com/office/powerpoint/2010/main" val="2082077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ángulo 107">
            <a:extLst>
              <a:ext uri="{FF2B5EF4-FFF2-40B4-BE49-F238E27FC236}">
                <a16:creationId xmlns:a16="http://schemas.microsoft.com/office/drawing/2014/main" id="{F8E2B51D-79D4-4B28-96F7-8E259C4E9E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38F29FD-B483-496A-897E-38D2434281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481BDB9-7F08-442A-8AA8-A0357AA9E010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8AB1BA1-90D9-4581-9865-EAB03F831FC7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23AA007-C0D9-443C-8EBD-93D7A788BEC6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6DA30B6-EA14-4244-999B-3C4B3B295334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F1CB247-FC60-4906-81B6-98FAE14DB8EE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CB2DD75-C75C-4BBE-937E-E211EE05FF37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D97FEA0-1730-4CFD-90AE-DF8D126D10D5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1CDAA36-FD3D-4FEA-BD2E-6E9A92FD0246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0FDE53E-B09E-44A3-86E2-D8A44F6AA101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EA08702-021B-4CF2-A327-93DBAB0E1ECB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AF39C7F-DDF5-4F24-9FA3-072136CFB71A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CA1FDD6-9EDC-46C0-A6F1-55EF8BEC525C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7293004-E349-4FE8-803A-8EF65F522AA1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D17346E-02D5-4283-ADAB-0954312A43CB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1683585-644C-4307-B488-C00B14780A0C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AFCBC8E-489D-4948-ACB5-55DE3EE0072E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8527084-4949-44E6-8AE3-6A8603238367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4C69FFC-09E6-4FEF-BAF5-7EF7811463A3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420CD20-D4E0-4AF8-A787-BC31ADD377CA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96636B7-087B-4269-868A-84C6D0F790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22FFE84-2EA2-4DE4-9283-4B212E8BBF64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67FB9950-6054-4101-9794-F9E74B164752}"/>
              </a:ext>
            </a:extLst>
          </p:cNvPr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383ED66-35A3-4C29-83CF-662AFB3D2A9F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0073667-8C9B-4F94-B767-FAE02A35E326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5E4362E9-4C84-4139-89DC-C5DFB3C31B7D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54D3206-6050-4C28-8396-C5F69A6131BD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3C41CF6-FB3D-42A1-BAAF-06C75A9C0915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F904E44-E8EB-4E77-9147-EBAA8223DE6D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9DE1AE98-CCF6-4AA4-A4AE-943FBBE940B2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0886CA7A-2C09-47A6-B8BD-0BCC35E119F0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0DAFC7AB-DD52-449D-80FC-36F12CFC38C6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38EF3C-8A7E-4C53-8215-6AA4E8557B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0225F770-881F-406F-A669-8EE0FC69270D}"/>
              </a:ext>
            </a:extLst>
          </p:cNvPr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06106180-D8EB-4337-9E3F-AB46911C8E4B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Mapa REST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6D59196-7FDE-48E8-B2C8-3E74960A7CA5}"/>
              </a:ext>
            </a:extLst>
          </p:cNvPr>
          <p:cNvSpPr>
            <a:spLocks noGrp="1"/>
          </p:cNvSpPr>
          <p:nvPr/>
        </p:nvSpPr>
        <p:spPr>
          <a:xfrm>
            <a:off x="666750" y="695325"/>
            <a:ext cx="7048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Todas las rutas expuestas por el backend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0839DF17-C61C-4ABA-8F33-E320A0AB3613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1619250" cy="8572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AC98F4F9-0040-41FE-9246-0D152D66EEE9}"/>
              </a:ext>
            </a:extLst>
          </p:cNvPr>
          <p:cNvSpPr>
            <a:spLocks noGrp="1"/>
          </p:cNvSpPr>
          <p:nvPr/>
        </p:nvSpPr>
        <p:spPr>
          <a:xfrm>
            <a:off x="838200" y="1514475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5F04F3F7-98F4-4D87-A707-EE2F924546FF}"/>
              </a:ext>
            </a:extLst>
          </p:cNvPr>
          <p:cNvSpPr>
            <a:spLocks noGrp="1"/>
          </p:cNvSpPr>
          <p:nvPr/>
        </p:nvSpPr>
        <p:spPr>
          <a:xfrm>
            <a:off x="838200" y="1857375"/>
            <a:ext cx="742950" cy="266700"/>
          </a:xfrm>
          <a:prstGeom prst="rect">
            <a:avLst/>
          </a:prstGeom>
          <a:solidFill>
            <a:srgbClr val="3EE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BBC786AF-48EC-4550-AD72-C1C7175FA0C1}"/>
              </a:ext>
            </a:extLst>
          </p:cNvPr>
          <p:cNvSpPr>
            <a:spLocks noGrp="1"/>
          </p:cNvSpPr>
          <p:nvPr/>
        </p:nvSpPr>
        <p:spPr>
          <a:xfrm>
            <a:off x="838200" y="19050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983FBFFD-A705-4E14-9152-6DA3F9696C8A}"/>
              </a:ext>
            </a:extLst>
          </p:cNvPr>
          <p:cNvSpPr>
            <a:spLocks noGrp="1"/>
          </p:cNvSpPr>
          <p:nvPr/>
        </p:nvSpPr>
        <p:spPr>
          <a:xfrm>
            <a:off x="1666875" y="1914525"/>
            <a:ext cx="4286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A8171CD3-40FE-4484-9B26-CB8A7FAB2F9E}"/>
              </a:ext>
            </a:extLst>
          </p:cNvPr>
          <p:cNvSpPr>
            <a:spLocks noGrp="1"/>
          </p:cNvSpPr>
          <p:nvPr/>
        </p:nvSpPr>
        <p:spPr>
          <a:xfrm>
            <a:off x="2571750" y="1381125"/>
            <a:ext cx="3952875" cy="304800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CC4D4E28-581B-4F9C-BEE4-214E6DAE3675}"/>
              </a:ext>
            </a:extLst>
          </p:cNvPr>
          <p:cNvSpPr>
            <a:spLocks noGrp="1"/>
          </p:cNvSpPr>
          <p:nvPr/>
        </p:nvSpPr>
        <p:spPr>
          <a:xfrm>
            <a:off x="2743200" y="1514475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Games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FB82CAB8-7F03-46BB-BB37-FCF52DE8DD38}"/>
              </a:ext>
            </a:extLst>
          </p:cNvPr>
          <p:cNvSpPr>
            <a:spLocks noGrp="1"/>
          </p:cNvSpPr>
          <p:nvPr/>
        </p:nvSpPr>
        <p:spPr>
          <a:xfrm>
            <a:off x="2743200" y="1857375"/>
            <a:ext cx="742950" cy="266700"/>
          </a:xfrm>
          <a:prstGeom prst="rect">
            <a:avLst/>
          </a:prstGeom>
          <a:solidFill>
            <a:srgbClr val="3EE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5A702083-54C9-4931-B229-45C5F95C53DC}"/>
              </a:ext>
            </a:extLst>
          </p:cNvPr>
          <p:cNvSpPr>
            <a:spLocks noGrp="1"/>
          </p:cNvSpPr>
          <p:nvPr/>
        </p:nvSpPr>
        <p:spPr>
          <a:xfrm>
            <a:off x="2743200" y="19050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1A9C31FC-BF76-4D87-8F6F-0AAFFD03532B}"/>
              </a:ext>
            </a:extLst>
          </p:cNvPr>
          <p:cNvSpPr>
            <a:spLocks noGrp="1"/>
          </p:cNvSpPr>
          <p:nvPr/>
        </p:nvSpPr>
        <p:spPr>
          <a:xfrm>
            <a:off x="3571875" y="1914525"/>
            <a:ext cx="2762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/games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9F032C53-9C40-4D15-8646-A0CE18D6F7D8}"/>
              </a:ext>
            </a:extLst>
          </p:cNvPr>
          <p:cNvSpPr>
            <a:spLocks noGrp="1"/>
          </p:cNvSpPr>
          <p:nvPr/>
        </p:nvSpPr>
        <p:spPr>
          <a:xfrm>
            <a:off x="2743200" y="2143125"/>
            <a:ext cx="742950" cy="266700"/>
          </a:xfrm>
          <a:prstGeom prst="rect">
            <a:avLst/>
          </a:prstGeom>
          <a:solidFill>
            <a:srgbClr val="58F2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65BA38BD-AA61-4E02-99F8-DF3C8F957DB7}"/>
              </a:ext>
            </a:extLst>
          </p:cNvPr>
          <p:cNvSpPr>
            <a:spLocks noGrp="1"/>
          </p:cNvSpPr>
          <p:nvPr/>
        </p:nvSpPr>
        <p:spPr>
          <a:xfrm>
            <a:off x="2743200" y="219075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D52E74D5-75B8-44AF-B31A-1287126551E8}"/>
              </a:ext>
            </a:extLst>
          </p:cNvPr>
          <p:cNvSpPr>
            <a:spLocks noGrp="1"/>
          </p:cNvSpPr>
          <p:nvPr/>
        </p:nvSpPr>
        <p:spPr>
          <a:xfrm>
            <a:off x="3571875" y="2200275"/>
            <a:ext cx="2762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/games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8F6BC25F-17E7-4A90-BFDC-E18E79E6FBDD}"/>
              </a:ext>
            </a:extLst>
          </p:cNvPr>
          <p:cNvSpPr>
            <a:spLocks noGrp="1"/>
          </p:cNvSpPr>
          <p:nvPr/>
        </p:nvSpPr>
        <p:spPr>
          <a:xfrm>
            <a:off x="2743200" y="2428875"/>
            <a:ext cx="742950" cy="266700"/>
          </a:xfrm>
          <a:prstGeom prst="rect">
            <a:avLst/>
          </a:prstGeom>
          <a:solidFill>
            <a:srgbClr val="3EE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873DD900-739B-446B-920A-C6DA0F9387B9}"/>
              </a:ext>
            </a:extLst>
          </p:cNvPr>
          <p:cNvSpPr>
            <a:spLocks noGrp="1"/>
          </p:cNvSpPr>
          <p:nvPr/>
        </p:nvSpPr>
        <p:spPr>
          <a:xfrm>
            <a:off x="2743200" y="24765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03D34B27-CC4E-4888-A558-0155952694F1}"/>
              </a:ext>
            </a:extLst>
          </p:cNvPr>
          <p:cNvSpPr>
            <a:spLocks noGrp="1"/>
          </p:cNvSpPr>
          <p:nvPr/>
        </p:nvSpPr>
        <p:spPr>
          <a:xfrm>
            <a:off x="3571875" y="2486025"/>
            <a:ext cx="2762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/games/{id}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2ACA9CD7-8C7E-4424-9AAE-1E115015781C}"/>
              </a:ext>
            </a:extLst>
          </p:cNvPr>
          <p:cNvSpPr>
            <a:spLocks noGrp="1"/>
          </p:cNvSpPr>
          <p:nvPr/>
        </p:nvSpPr>
        <p:spPr>
          <a:xfrm>
            <a:off x="2743200" y="2714625"/>
            <a:ext cx="742950" cy="266700"/>
          </a:xfrm>
          <a:prstGeom prst="rect">
            <a:avLst/>
          </a:prstGeom>
          <a:solidFill>
            <a:srgbClr val="FFCA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38DD5D84-69DB-4803-BD11-6F4946571791}"/>
              </a:ext>
            </a:extLst>
          </p:cNvPr>
          <p:cNvSpPr>
            <a:spLocks noGrp="1"/>
          </p:cNvSpPr>
          <p:nvPr/>
        </p:nvSpPr>
        <p:spPr>
          <a:xfrm>
            <a:off x="2743200" y="276225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PUT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B2098BD1-F7FE-4CF6-9B1C-432886486409}"/>
              </a:ext>
            </a:extLst>
          </p:cNvPr>
          <p:cNvSpPr>
            <a:spLocks noGrp="1"/>
          </p:cNvSpPr>
          <p:nvPr/>
        </p:nvSpPr>
        <p:spPr>
          <a:xfrm>
            <a:off x="3571875" y="2771775"/>
            <a:ext cx="2762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/games/{id}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05443E77-D9ED-4C13-8A60-06B1BDE47BCD}"/>
              </a:ext>
            </a:extLst>
          </p:cNvPr>
          <p:cNvSpPr>
            <a:spLocks noGrp="1"/>
          </p:cNvSpPr>
          <p:nvPr/>
        </p:nvSpPr>
        <p:spPr>
          <a:xfrm>
            <a:off x="2743200" y="3000375"/>
            <a:ext cx="742950" cy="266700"/>
          </a:xfrm>
          <a:prstGeom prst="rect">
            <a:avLst/>
          </a:prstGeom>
          <a:solidFill>
            <a:srgbClr val="FF5A7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1FB92ACA-EADF-4919-A99F-AA2EEC848A17}"/>
              </a:ext>
            </a:extLst>
          </p:cNvPr>
          <p:cNvSpPr>
            <a:spLocks noGrp="1"/>
          </p:cNvSpPr>
          <p:nvPr/>
        </p:nvSpPr>
        <p:spPr>
          <a:xfrm>
            <a:off x="2743200" y="30480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DELETE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DECDB81F-6A5D-4110-8790-C194D23B32EA}"/>
              </a:ext>
            </a:extLst>
          </p:cNvPr>
          <p:cNvSpPr>
            <a:spLocks noGrp="1"/>
          </p:cNvSpPr>
          <p:nvPr/>
        </p:nvSpPr>
        <p:spPr>
          <a:xfrm>
            <a:off x="3571875" y="3057525"/>
            <a:ext cx="2762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/games/{id}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691148A1-0DB9-4812-A993-4E122A479E74}"/>
              </a:ext>
            </a:extLst>
          </p:cNvPr>
          <p:cNvSpPr>
            <a:spLocks noGrp="1"/>
          </p:cNvSpPr>
          <p:nvPr/>
        </p:nvSpPr>
        <p:spPr>
          <a:xfrm>
            <a:off x="2743200" y="3286125"/>
            <a:ext cx="742950" cy="266700"/>
          </a:xfrm>
          <a:prstGeom prst="rect">
            <a:avLst/>
          </a:prstGeom>
          <a:solidFill>
            <a:srgbClr val="3EE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C8F38974-1DA2-4BB4-9598-A6D360D34A15}"/>
              </a:ext>
            </a:extLst>
          </p:cNvPr>
          <p:cNvSpPr>
            <a:spLocks noGrp="1"/>
          </p:cNvSpPr>
          <p:nvPr/>
        </p:nvSpPr>
        <p:spPr>
          <a:xfrm>
            <a:off x="2743200" y="333375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62545F42-B228-43F5-B1BC-0C0A6984C736}"/>
              </a:ext>
            </a:extLst>
          </p:cNvPr>
          <p:cNvSpPr>
            <a:spLocks noGrp="1"/>
          </p:cNvSpPr>
          <p:nvPr/>
        </p:nvSpPr>
        <p:spPr>
          <a:xfrm>
            <a:off x="3571875" y="3343275"/>
            <a:ext cx="2762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/games/{id}/country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0622B0B1-3C79-43D7-B321-95B6C47FCA7E}"/>
              </a:ext>
            </a:extLst>
          </p:cNvPr>
          <p:cNvSpPr>
            <a:spLocks noGrp="1"/>
          </p:cNvSpPr>
          <p:nvPr/>
        </p:nvSpPr>
        <p:spPr>
          <a:xfrm>
            <a:off x="2743200" y="3571875"/>
            <a:ext cx="742950" cy="266700"/>
          </a:xfrm>
          <a:prstGeom prst="rect">
            <a:avLst/>
          </a:prstGeom>
          <a:solidFill>
            <a:srgbClr val="3EE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02C53CC1-04F4-4876-A73F-F4615847BAC2}"/>
              </a:ext>
            </a:extLst>
          </p:cNvPr>
          <p:cNvSpPr>
            <a:spLocks noGrp="1"/>
          </p:cNvSpPr>
          <p:nvPr/>
        </p:nvSpPr>
        <p:spPr>
          <a:xfrm>
            <a:off x="2743200" y="36195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74C7DB8B-EF9E-4A78-B43A-4A07BB17420B}"/>
              </a:ext>
            </a:extLst>
          </p:cNvPr>
          <p:cNvSpPr>
            <a:spLocks noGrp="1"/>
          </p:cNvSpPr>
          <p:nvPr/>
        </p:nvSpPr>
        <p:spPr>
          <a:xfrm>
            <a:off x="3571875" y="3629025"/>
            <a:ext cx="2762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/games/{id}/reviews</a:t>
            </a: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38FA7DD9-827C-4A5D-BC6A-43C3CB1F3BB2}"/>
              </a:ext>
            </a:extLst>
          </p:cNvPr>
          <p:cNvSpPr>
            <a:spLocks noGrp="1"/>
          </p:cNvSpPr>
          <p:nvPr/>
        </p:nvSpPr>
        <p:spPr>
          <a:xfrm>
            <a:off x="2743200" y="3857625"/>
            <a:ext cx="742950" cy="266700"/>
          </a:xfrm>
          <a:prstGeom prst="rect">
            <a:avLst/>
          </a:prstGeom>
          <a:solidFill>
            <a:srgbClr val="3EE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604D5119-E24E-4D8C-82B8-77A8D1D796ED}"/>
              </a:ext>
            </a:extLst>
          </p:cNvPr>
          <p:cNvSpPr>
            <a:spLocks noGrp="1"/>
          </p:cNvSpPr>
          <p:nvPr/>
        </p:nvSpPr>
        <p:spPr>
          <a:xfrm>
            <a:off x="2743200" y="390525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302FE030-00E4-4378-BDB3-27D95BA6EE88}"/>
              </a:ext>
            </a:extLst>
          </p:cNvPr>
          <p:cNvSpPr>
            <a:spLocks noGrp="1"/>
          </p:cNvSpPr>
          <p:nvPr/>
        </p:nvSpPr>
        <p:spPr>
          <a:xfrm>
            <a:off x="3571875" y="3914775"/>
            <a:ext cx="2762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/games/{id}/enriched</a:t>
            </a:r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07E6964B-E191-4ADD-8E48-86874BB95A5F}"/>
              </a:ext>
            </a:extLst>
          </p:cNvPr>
          <p:cNvSpPr>
            <a:spLocks noGrp="1"/>
          </p:cNvSpPr>
          <p:nvPr/>
        </p:nvSpPr>
        <p:spPr>
          <a:xfrm>
            <a:off x="6810375" y="1381125"/>
            <a:ext cx="3810000" cy="2047875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9A4D00B5-9A91-47DD-A4FA-F232BC9B20D3}"/>
              </a:ext>
            </a:extLst>
          </p:cNvPr>
          <p:cNvSpPr>
            <a:spLocks noGrp="1"/>
          </p:cNvSpPr>
          <p:nvPr/>
        </p:nvSpPr>
        <p:spPr>
          <a:xfrm>
            <a:off x="6981825" y="1514475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Developers</a:t>
            </a: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00BF6C08-9D88-460F-BAFF-D8E71F846E4A}"/>
              </a:ext>
            </a:extLst>
          </p:cNvPr>
          <p:cNvSpPr>
            <a:spLocks noGrp="1"/>
          </p:cNvSpPr>
          <p:nvPr/>
        </p:nvSpPr>
        <p:spPr>
          <a:xfrm>
            <a:off x="6981825" y="1857375"/>
            <a:ext cx="742950" cy="266700"/>
          </a:xfrm>
          <a:prstGeom prst="rect">
            <a:avLst/>
          </a:prstGeom>
          <a:solidFill>
            <a:srgbClr val="3EE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8CABDEB8-3B8E-4E96-AD36-60F3301A41B3}"/>
              </a:ext>
            </a:extLst>
          </p:cNvPr>
          <p:cNvSpPr>
            <a:spLocks noGrp="1"/>
          </p:cNvSpPr>
          <p:nvPr/>
        </p:nvSpPr>
        <p:spPr>
          <a:xfrm>
            <a:off x="6981825" y="19050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AE1B20E4-098F-44B3-AB6C-1DEF42B77036}"/>
              </a:ext>
            </a:extLst>
          </p:cNvPr>
          <p:cNvSpPr>
            <a:spLocks noGrp="1"/>
          </p:cNvSpPr>
          <p:nvPr/>
        </p:nvSpPr>
        <p:spPr>
          <a:xfrm>
            <a:off x="7810500" y="1914525"/>
            <a:ext cx="261937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/developers</a:t>
            </a: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85E9B093-83CD-4B81-A98D-6C29D601B018}"/>
              </a:ext>
            </a:extLst>
          </p:cNvPr>
          <p:cNvSpPr>
            <a:spLocks noGrp="1"/>
          </p:cNvSpPr>
          <p:nvPr/>
        </p:nvSpPr>
        <p:spPr>
          <a:xfrm>
            <a:off x="6981825" y="2143125"/>
            <a:ext cx="742950" cy="266700"/>
          </a:xfrm>
          <a:prstGeom prst="rect">
            <a:avLst/>
          </a:prstGeom>
          <a:solidFill>
            <a:srgbClr val="58F2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5F7F2AC7-4321-44E7-9AFF-F14E6952D648}"/>
              </a:ext>
            </a:extLst>
          </p:cNvPr>
          <p:cNvSpPr>
            <a:spLocks noGrp="1"/>
          </p:cNvSpPr>
          <p:nvPr/>
        </p:nvSpPr>
        <p:spPr>
          <a:xfrm>
            <a:off x="6981825" y="219075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52353AC6-8B68-49F3-9488-9429898961D5}"/>
              </a:ext>
            </a:extLst>
          </p:cNvPr>
          <p:cNvSpPr>
            <a:spLocks noGrp="1"/>
          </p:cNvSpPr>
          <p:nvPr/>
        </p:nvSpPr>
        <p:spPr>
          <a:xfrm>
            <a:off x="7810500" y="2200275"/>
            <a:ext cx="261937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/developers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1AABD87D-7BF8-49C8-B2F8-1A4341C78234}"/>
              </a:ext>
            </a:extLst>
          </p:cNvPr>
          <p:cNvSpPr>
            <a:spLocks noGrp="1"/>
          </p:cNvSpPr>
          <p:nvPr/>
        </p:nvSpPr>
        <p:spPr>
          <a:xfrm>
            <a:off x="6981825" y="2428875"/>
            <a:ext cx="742950" cy="266700"/>
          </a:xfrm>
          <a:prstGeom prst="rect">
            <a:avLst/>
          </a:prstGeom>
          <a:solidFill>
            <a:srgbClr val="3EE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70D37667-958C-4D26-8F71-F1F55A86C3BF}"/>
              </a:ext>
            </a:extLst>
          </p:cNvPr>
          <p:cNvSpPr>
            <a:spLocks noGrp="1"/>
          </p:cNvSpPr>
          <p:nvPr/>
        </p:nvSpPr>
        <p:spPr>
          <a:xfrm>
            <a:off x="6981825" y="24765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6ABA753C-8CBC-452C-8AA5-5A66AD2D3231}"/>
              </a:ext>
            </a:extLst>
          </p:cNvPr>
          <p:cNvSpPr>
            <a:spLocks noGrp="1"/>
          </p:cNvSpPr>
          <p:nvPr/>
        </p:nvSpPr>
        <p:spPr>
          <a:xfrm>
            <a:off x="7810500" y="2486025"/>
            <a:ext cx="261937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/developers/{id}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2BF15EBC-D900-4F6D-95C6-4E702979CF72}"/>
              </a:ext>
            </a:extLst>
          </p:cNvPr>
          <p:cNvSpPr>
            <a:spLocks noGrp="1"/>
          </p:cNvSpPr>
          <p:nvPr/>
        </p:nvSpPr>
        <p:spPr>
          <a:xfrm>
            <a:off x="6981825" y="2714625"/>
            <a:ext cx="742950" cy="266700"/>
          </a:xfrm>
          <a:prstGeom prst="rect">
            <a:avLst/>
          </a:prstGeom>
          <a:solidFill>
            <a:srgbClr val="FFCA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5D6E3CFD-3A82-4BA8-AE7C-C1C37637B0CD}"/>
              </a:ext>
            </a:extLst>
          </p:cNvPr>
          <p:cNvSpPr>
            <a:spLocks noGrp="1"/>
          </p:cNvSpPr>
          <p:nvPr/>
        </p:nvSpPr>
        <p:spPr>
          <a:xfrm>
            <a:off x="6981825" y="276225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PUT</a:t>
            </a:r>
          </a:p>
        </p:txBody>
      </p:sp>
      <p:sp>
        <p:nvSpPr>
          <p:cNvPr id="82" name="Rectángulo 81">
            <a:extLst>
              <a:ext uri="{FF2B5EF4-FFF2-40B4-BE49-F238E27FC236}">
                <a16:creationId xmlns:a16="http://schemas.microsoft.com/office/drawing/2014/main" id="{FA2C407F-44AB-4A12-AB49-2138272B1747}"/>
              </a:ext>
            </a:extLst>
          </p:cNvPr>
          <p:cNvSpPr>
            <a:spLocks noGrp="1"/>
          </p:cNvSpPr>
          <p:nvPr/>
        </p:nvSpPr>
        <p:spPr>
          <a:xfrm>
            <a:off x="7810500" y="2771775"/>
            <a:ext cx="261937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/developers/{id}</a:t>
            </a:r>
          </a:p>
        </p:txBody>
      </p:sp>
      <p:sp>
        <p:nvSpPr>
          <p:cNvPr id="83" name="Rectángulo 82">
            <a:extLst>
              <a:ext uri="{FF2B5EF4-FFF2-40B4-BE49-F238E27FC236}">
                <a16:creationId xmlns:a16="http://schemas.microsoft.com/office/drawing/2014/main" id="{B32F583C-2CA3-4B8F-B7BE-17D770E7ADBB}"/>
              </a:ext>
            </a:extLst>
          </p:cNvPr>
          <p:cNvSpPr>
            <a:spLocks noGrp="1"/>
          </p:cNvSpPr>
          <p:nvPr/>
        </p:nvSpPr>
        <p:spPr>
          <a:xfrm>
            <a:off x="6981825" y="3000375"/>
            <a:ext cx="742950" cy="266700"/>
          </a:xfrm>
          <a:prstGeom prst="rect">
            <a:avLst/>
          </a:prstGeom>
          <a:solidFill>
            <a:srgbClr val="FF5A7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4" name="Rectángulo 83">
            <a:extLst>
              <a:ext uri="{FF2B5EF4-FFF2-40B4-BE49-F238E27FC236}">
                <a16:creationId xmlns:a16="http://schemas.microsoft.com/office/drawing/2014/main" id="{BA8FCA93-1076-4F35-84A6-D6B338A49F82}"/>
              </a:ext>
            </a:extLst>
          </p:cNvPr>
          <p:cNvSpPr>
            <a:spLocks noGrp="1"/>
          </p:cNvSpPr>
          <p:nvPr/>
        </p:nvSpPr>
        <p:spPr>
          <a:xfrm>
            <a:off x="6981825" y="30480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DELETE</a:t>
            </a:r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3DCA13AD-B6FD-494E-B999-B2E368AE5F1C}"/>
              </a:ext>
            </a:extLst>
          </p:cNvPr>
          <p:cNvSpPr>
            <a:spLocks noGrp="1"/>
          </p:cNvSpPr>
          <p:nvPr/>
        </p:nvSpPr>
        <p:spPr>
          <a:xfrm>
            <a:off x="7810500" y="3057525"/>
            <a:ext cx="261937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/developers/{id}</a:t>
            </a:r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A6C9014D-92E8-4313-BD55-13A25E3CFE5E}"/>
              </a:ext>
            </a:extLst>
          </p:cNvPr>
          <p:cNvSpPr>
            <a:spLocks noGrp="1"/>
          </p:cNvSpPr>
          <p:nvPr/>
        </p:nvSpPr>
        <p:spPr>
          <a:xfrm>
            <a:off x="2571750" y="4476750"/>
            <a:ext cx="3810000" cy="20002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87" name="Rectángulo 86">
            <a:extLst>
              <a:ext uri="{FF2B5EF4-FFF2-40B4-BE49-F238E27FC236}">
                <a16:creationId xmlns:a16="http://schemas.microsoft.com/office/drawing/2014/main" id="{85FB31B3-0280-41E3-84CC-272DD1F38ECA}"/>
              </a:ext>
            </a:extLst>
          </p:cNvPr>
          <p:cNvSpPr>
            <a:spLocks noGrp="1"/>
          </p:cNvSpPr>
          <p:nvPr/>
        </p:nvSpPr>
        <p:spPr>
          <a:xfrm>
            <a:off x="2743200" y="46101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Reviews</a:t>
            </a:r>
          </a:p>
        </p:txBody>
      </p:sp>
      <p:sp>
        <p:nvSpPr>
          <p:cNvPr id="88" name="Rectángulo 87">
            <a:extLst>
              <a:ext uri="{FF2B5EF4-FFF2-40B4-BE49-F238E27FC236}">
                <a16:creationId xmlns:a16="http://schemas.microsoft.com/office/drawing/2014/main" id="{8207401D-1908-4946-B5E9-675E4AA079A5}"/>
              </a:ext>
            </a:extLst>
          </p:cNvPr>
          <p:cNvSpPr>
            <a:spLocks noGrp="1"/>
          </p:cNvSpPr>
          <p:nvPr/>
        </p:nvSpPr>
        <p:spPr>
          <a:xfrm>
            <a:off x="2743200" y="4953000"/>
            <a:ext cx="742950" cy="266700"/>
          </a:xfrm>
          <a:prstGeom prst="rect">
            <a:avLst/>
          </a:prstGeom>
          <a:solidFill>
            <a:srgbClr val="3EE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8B7BE180-874F-41FB-8EF6-291418784937}"/>
              </a:ext>
            </a:extLst>
          </p:cNvPr>
          <p:cNvSpPr>
            <a:spLocks noGrp="1"/>
          </p:cNvSpPr>
          <p:nvPr/>
        </p:nvSpPr>
        <p:spPr>
          <a:xfrm>
            <a:off x="2743200" y="5000625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90" name="Rectángulo 89">
            <a:extLst>
              <a:ext uri="{FF2B5EF4-FFF2-40B4-BE49-F238E27FC236}">
                <a16:creationId xmlns:a16="http://schemas.microsoft.com/office/drawing/2014/main" id="{00FCCA21-813A-4B2E-9877-2318E4FF4C74}"/>
              </a:ext>
            </a:extLst>
          </p:cNvPr>
          <p:cNvSpPr>
            <a:spLocks noGrp="1"/>
          </p:cNvSpPr>
          <p:nvPr/>
        </p:nvSpPr>
        <p:spPr>
          <a:xfrm>
            <a:off x="3571875" y="5010150"/>
            <a:ext cx="261937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/reviews</a:t>
            </a:r>
          </a:p>
        </p:txBody>
      </p:sp>
      <p:sp>
        <p:nvSpPr>
          <p:cNvPr id="91" name="Rectángulo 90">
            <a:extLst>
              <a:ext uri="{FF2B5EF4-FFF2-40B4-BE49-F238E27FC236}">
                <a16:creationId xmlns:a16="http://schemas.microsoft.com/office/drawing/2014/main" id="{2CE3EA3A-E102-4E48-89D0-1F412CC08F53}"/>
              </a:ext>
            </a:extLst>
          </p:cNvPr>
          <p:cNvSpPr>
            <a:spLocks noGrp="1"/>
          </p:cNvSpPr>
          <p:nvPr/>
        </p:nvSpPr>
        <p:spPr>
          <a:xfrm>
            <a:off x="2743200" y="5238750"/>
            <a:ext cx="742950" cy="266700"/>
          </a:xfrm>
          <a:prstGeom prst="rect">
            <a:avLst/>
          </a:prstGeom>
          <a:solidFill>
            <a:srgbClr val="58F2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2" name="Rectángulo 91">
            <a:extLst>
              <a:ext uri="{FF2B5EF4-FFF2-40B4-BE49-F238E27FC236}">
                <a16:creationId xmlns:a16="http://schemas.microsoft.com/office/drawing/2014/main" id="{B0B3F44C-CD8C-4C0B-B2C3-63ADCA7FB29D}"/>
              </a:ext>
            </a:extLst>
          </p:cNvPr>
          <p:cNvSpPr>
            <a:spLocks noGrp="1"/>
          </p:cNvSpPr>
          <p:nvPr/>
        </p:nvSpPr>
        <p:spPr>
          <a:xfrm>
            <a:off x="2743200" y="5286375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93" name="Rectángulo 92">
            <a:extLst>
              <a:ext uri="{FF2B5EF4-FFF2-40B4-BE49-F238E27FC236}">
                <a16:creationId xmlns:a16="http://schemas.microsoft.com/office/drawing/2014/main" id="{2080289B-24AA-4986-B0C3-2E8597B6444D}"/>
              </a:ext>
            </a:extLst>
          </p:cNvPr>
          <p:cNvSpPr>
            <a:spLocks noGrp="1"/>
          </p:cNvSpPr>
          <p:nvPr/>
        </p:nvSpPr>
        <p:spPr>
          <a:xfrm>
            <a:off x="3571875" y="5295900"/>
            <a:ext cx="261937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/reviews</a:t>
            </a:r>
          </a:p>
        </p:txBody>
      </p:sp>
      <p:sp>
        <p:nvSpPr>
          <p:cNvPr id="94" name="Rectángulo 93">
            <a:extLst>
              <a:ext uri="{FF2B5EF4-FFF2-40B4-BE49-F238E27FC236}">
                <a16:creationId xmlns:a16="http://schemas.microsoft.com/office/drawing/2014/main" id="{5263241F-3D92-4676-968D-E7ECEF38BCF3}"/>
              </a:ext>
            </a:extLst>
          </p:cNvPr>
          <p:cNvSpPr>
            <a:spLocks noGrp="1"/>
          </p:cNvSpPr>
          <p:nvPr/>
        </p:nvSpPr>
        <p:spPr>
          <a:xfrm>
            <a:off x="2743200" y="5524500"/>
            <a:ext cx="742950" cy="266700"/>
          </a:xfrm>
          <a:prstGeom prst="rect">
            <a:avLst/>
          </a:prstGeom>
          <a:solidFill>
            <a:srgbClr val="3EE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7C82EDE2-2CE0-4E44-B0E9-F9FA5D237B0E}"/>
              </a:ext>
            </a:extLst>
          </p:cNvPr>
          <p:cNvSpPr>
            <a:spLocks noGrp="1"/>
          </p:cNvSpPr>
          <p:nvPr/>
        </p:nvSpPr>
        <p:spPr>
          <a:xfrm>
            <a:off x="2743200" y="5572125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B2300DCB-5BA4-4042-850F-CC328F97BE50}"/>
              </a:ext>
            </a:extLst>
          </p:cNvPr>
          <p:cNvSpPr>
            <a:spLocks noGrp="1"/>
          </p:cNvSpPr>
          <p:nvPr/>
        </p:nvSpPr>
        <p:spPr>
          <a:xfrm>
            <a:off x="3571875" y="5581650"/>
            <a:ext cx="261937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/reviews/game/{gameId}</a:t>
            </a:r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DB3217DC-9415-4ACE-812B-2D760650F2EF}"/>
              </a:ext>
            </a:extLst>
          </p:cNvPr>
          <p:cNvSpPr>
            <a:spLocks noGrp="1"/>
          </p:cNvSpPr>
          <p:nvPr/>
        </p:nvSpPr>
        <p:spPr>
          <a:xfrm>
            <a:off x="2743200" y="5810250"/>
            <a:ext cx="742950" cy="2667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6F3AA008-4274-4E1B-94B1-C6F305F7419B}"/>
              </a:ext>
            </a:extLst>
          </p:cNvPr>
          <p:cNvSpPr>
            <a:spLocks noGrp="1"/>
          </p:cNvSpPr>
          <p:nvPr/>
        </p:nvSpPr>
        <p:spPr>
          <a:xfrm>
            <a:off x="2743200" y="5857875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PATCH</a:t>
            </a:r>
          </a:p>
        </p:txBody>
      </p:sp>
      <p:sp>
        <p:nvSpPr>
          <p:cNvPr id="99" name="Rectángulo 98">
            <a:extLst>
              <a:ext uri="{FF2B5EF4-FFF2-40B4-BE49-F238E27FC236}">
                <a16:creationId xmlns:a16="http://schemas.microsoft.com/office/drawing/2014/main" id="{FB506DD4-2B56-4528-975D-9A76BF4B4BCA}"/>
              </a:ext>
            </a:extLst>
          </p:cNvPr>
          <p:cNvSpPr>
            <a:spLocks noGrp="1"/>
          </p:cNvSpPr>
          <p:nvPr/>
        </p:nvSpPr>
        <p:spPr>
          <a:xfrm>
            <a:off x="3571875" y="5867400"/>
            <a:ext cx="261937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/reviews/{id}</a:t>
            </a:r>
          </a:p>
        </p:txBody>
      </p: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E95D4512-22E2-4EAF-AA12-37184605B807}"/>
              </a:ext>
            </a:extLst>
          </p:cNvPr>
          <p:cNvSpPr>
            <a:spLocks noGrp="1"/>
          </p:cNvSpPr>
          <p:nvPr/>
        </p:nvSpPr>
        <p:spPr>
          <a:xfrm>
            <a:off x="2743200" y="6096000"/>
            <a:ext cx="742950" cy="266700"/>
          </a:xfrm>
          <a:prstGeom prst="rect">
            <a:avLst/>
          </a:prstGeom>
          <a:solidFill>
            <a:srgbClr val="FF5A7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F8BC6F5C-825F-4B41-ADC2-1D7AA6390C9A}"/>
              </a:ext>
            </a:extLst>
          </p:cNvPr>
          <p:cNvSpPr>
            <a:spLocks noGrp="1"/>
          </p:cNvSpPr>
          <p:nvPr/>
        </p:nvSpPr>
        <p:spPr>
          <a:xfrm>
            <a:off x="2743200" y="6143625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DELETE</a:t>
            </a:r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520CD6A8-6170-4182-9848-F3BE099DBE0E}"/>
              </a:ext>
            </a:extLst>
          </p:cNvPr>
          <p:cNvSpPr>
            <a:spLocks noGrp="1"/>
          </p:cNvSpPr>
          <p:nvPr/>
        </p:nvSpPr>
        <p:spPr>
          <a:xfrm>
            <a:off x="3571875" y="6153150"/>
            <a:ext cx="261937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/reviews/{id}</a:t>
            </a:r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80AFAAC9-015D-4CAB-A536-78B026415A0A}"/>
              </a:ext>
            </a:extLst>
          </p:cNvPr>
          <p:cNvSpPr>
            <a:spLocks noGrp="1"/>
          </p:cNvSpPr>
          <p:nvPr/>
        </p:nvSpPr>
        <p:spPr>
          <a:xfrm>
            <a:off x="6810375" y="3857625"/>
            <a:ext cx="3810000" cy="8572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04" name="Rectángulo 103">
            <a:extLst>
              <a:ext uri="{FF2B5EF4-FFF2-40B4-BE49-F238E27FC236}">
                <a16:creationId xmlns:a16="http://schemas.microsoft.com/office/drawing/2014/main" id="{81B77378-1E41-4170-872C-DF3330D69071}"/>
              </a:ext>
            </a:extLst>
          </p:cNvPr>
          <p:cNvSpPr>
            <a:spLocks noGrp="1"/>
          </p:cNvSpPr>
          <p:nvPr/>
        </p:nvSpPr>
        <p:spPr>
          <a:xfrm>
            <a:off x="6981825" y="3990975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Countries</a:t>
            </a:r>
          </a:p>
        </p:txBody>
      </p:sp>
      <p:sp>
        <p:nvSpPr>
          <p:cNvPr id="105" name="Rectángulo 104">
            <a:extLst>
              <a:ext uri="{FF2B5EF4-FFF2-40B4-BE49-F238E27FC236}">
                <a16:creationId xmlns:a16="http://schemas.microsoft.com/office/drawing/2014/main" id="{2E5964FF-FBF7-4A23-844E-2CDDD6B99241}"/>
              </a:ext>
            </a:extLst>
          </p:cNvPr>
          <p:cNvSpPr>
            <a:spLocks noGrp="1"/>
          </p:cNvSpPr>
          <p:nvPr/>
        </p:nvSpPr>
        <p:spPr>
          <a:xfrm>
            <a:off x="6981825" y="4333875"/>
            <a:ext cx="742950" cy="266700"/>
          </a:xfrm>
          <a:prstGeom prst="rect">
            <a:avLst/>
          </a:prstGeom>
          <a:solidFill>
            <a:srgbClr val="3EE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756A5315-58F5-440F-AD7D-FEDF27ED9228}"/>
              </a:ext>
            </a:extLst>
          </p:cNvPr>
          <p:cNvSpPr>
            <a:spLocks noGrp="1"/>
          </p:cNvSpPr>
          <p:nvPr/>
        </p:nvSpPr>
        <p:spPr>
          <a:xfrm>
            <a:off x="6981825" y="43815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81AFFBC1-ECD3-4692-95DF-925A14A55281}"/>
              </a:ext>
            </a:extLst>
          </p:cNvPr>
          <p:cNvSpPr>
            <a:spLocks noGrp="1"/>
          </p:cNvSpPr>
          <p:nvPr/>
        </p:nvSpPr>
        <p:spPr>
          <a:xfrm>
            <a:off x="7810500" y="4391025"/>
            <a:ext cx="261937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/countries</a:t>
            </a:r>
          </a:p>
        </p:txBody>
      </p:sp>
    </p:spTree>
    <p:extLst>
      <p:ext uri="{BB962C8B-B14F-4D97-AF65-F5344CB8AC3E}">
        <p14:creationId xmlns:p14="http://schemas.microsoft.com/office/powerpoint/2010/main" val="1473110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ángulo 62">
            <a:extLst>
              <a:ext uri="{FF2B5EF4-FFF2-40B4-BE49-F238E27FC236}">
                <a16:creationId xmlns:a16="http://schemas.microsoft.com/office/drawing/2014/main" id="{6479DAF4-B878-4B9B-B460-D676B65C4B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159120E-6FA1-47CA-AB62-C98C0FDFF9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26F37E8-1C34-4477-A19A-798A8DF192A2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F650B8E-E72F-4716-B5E6-74CEF032E50C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78D351-B6B3-44E6-8D76-5B2F921A1039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5F8ADD1-245B-4F43-B270-455B3F3DD06A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95D5A76-EC70-4DDE-9C0E-A1F08A351D16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0FBA28A-7268-4736-B53C-7E18AD8DE168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305D28B-D6BF-4305-AD58-A26DE7D95150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8220558-EBF0-4CC6-9ADF-8CE0771AFC22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DC03EF2-4209-4CC0-B625-A81841452CA1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3B78897-B35F-474B-A1C3-2E4EC6BA7E6A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ED33FFB-4409-40EF-9681-28153D75803F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3C11FA0-F074-4B32-B34E-D2F5C612E39C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48D3DE4-22B0-4E7F-BE43-3511597CF288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16CC393-8072-441F-8F95-AE2F9B30E5CF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978B6AB-91EE-4380-98DF-17A2D726EE32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671089C-5349-4C71-91BA-F50484CB7832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6FA32EF-51C4-4C5A-A748-E33CCD80207C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8204234-2E11-4635-9951-B11675B20D76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278A864-4DD2-4EF9-876B-0D1D52E584E3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95905BB-D96E-4381-88C9-393FE66067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68E7976-D3D8-427E-BF9B-82B80BFFDD38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1A7AC54-216A-4348-958F-A6C51E176C9B}"/>
              </a:ext>
            </a:extLst>
          </p:cNvPr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CE6CBF1-0CEC-4066-A3C6-6BA481BC3CC3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CCC81A8-48AB-4EE4-8E28-65548C4CBDA1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5E3D072-D61B-4732-B7F1-00C3CC3C98FA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2FD5EA3-2A5C-4D07-9B1B-00FEBBEF97AA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D230F32-7430-4015-A7AF-102B577D6C89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7BC5B578-B570-4160-87B0-62D1841C95F1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64A6ED1-8FCE-48C2-B1C7-0A6F8A4A650C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223B10A-1152-4451-A0BB-99E57543371B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C31AB8A-530C-467A-AA1D-74AF8D423B18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685D438-F56F-4B98-A8CC-C27B1AA65D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E5F829F7-5DDF-4C34-8F33-69662945B35B}"/>
              </a:ext>
            </a:extLst>
          </p:cNvPr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B10829A-881C-4E7F-9DA3-DD822E627A5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Interfaz REST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95011C52-B0E9-4102-9687-A092C91E9717}"/>
              </a:ext>
            </a:extLst>
          </p:cNvPr>
          <p:cNvSpPr>
            <a:spLocks noGrp="1"/>
          </p:cNvSpPr>
          <p:nvPr/>
        </p:nvSpPr>
        <p:spPr>
          <a:xfrm>
            <a:off x="666750" y="695325"/>
            <a:ext cx="7048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/games concentra el CRUD principal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69A0AA25-E713-48A1-8619-FF74EB7292D2}"/>
              </a:ext>
            </a:extLst>
          </p:cNvPr>
          <p:cNvSpPr>
            <a:spLocks noGrp="1"/>
          </p:cNvSpPr>
          <p:nvPr/>
        </p:nvSpPr>
        <p:spPr>
          <a:xfrm>
            <a:off x="857250" y="1466850"/>
            <a:ext cx="9620250" cy="5524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56DBBA42-E8BA-4D8E-AD22-A18E7C0EE0FC}"/>
              </a:ext>
            </a:extLst>
          </p:cNvPr>
          <p:cNvSpPr>
            <a:spLocks noGrp="1"/>
          </p:cNvSpPr>
          <p:nvPr/>
        </p:nvSpPr>
        <p:spPr>
          <a:xfrm>
            <a:off x="1066800" y="1609725"/>
            <a:ext cx="742950" cy="266700"/>
          </a:xfrm>
          <a:prstGeom prst="rect">
            <a:avLst/>
          </a:prstGeom>
          <a:solidFill>
            <a:srgbClr val="3EE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6A217BDF-E158-4926-A937-51211B70D483}"/>
              </a:ext>
            </a:extLst>
          </p:cNvPr>
          <p:cNvSpPr>
            <a:spLocks noGrp="1"/>
          </p:cNvSpPr>
          <p:nvPr/>
        </p:nvSpPr>
        <p:spPr>
          <a:xfrm>
            <a:off x="1066800" y="165735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6A7D06A4-D069-4103-B99F-C26D17405E52}"/>
              </a:ext>
            </a:extLst>
          </p:cNvPr>
          <p:cNvSpPr>
            <a:spLocks noGrp="1"/>
          </p:cNvSpPr>
          <p:nvPr/>
        </p:nvSpPr>
        <p:spPr>
          <a:xfrm>
            <a:off x="2095500" y="15811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/games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6C226769-EEFE-4CA1-896E-0BB3EB1C025E}"/>
              </a:ext>
            </a:extLst>
          </p:cNvPr>
          <p:cNvSpPr>
            <a:spLocks noGrp="1"/>
          </p:cNvSpPr>
          <p:nvPr/>
        </p:nvSpPr>
        <p:spPr>
          <a:xfrm>
            <a:off x="5286375" y="16002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Listado con búsqueda, filtros, ordenación y paginación.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9B457418-F14B-46E2-8817-57D5AD96F357}"/>
              </a:ext>
            </a:extLst>
          </p:cNvPr>
          <p:cNvSpPr>
            <a:spLocks noGrp="1"/>
          </p:cNvSpPr>
          <p:nvPr/>
        </p:nvSpPr>
        <p:spPr>
          <a:xfrm>
            <a:off x="857250" y="2286000"/>
            <a:ext cx="9620250" cy="5524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A63EFF1C-128B-4ACF-9F30-1C55B7A1F737}"/>
              </a:ext>
            </a:extLst>
          </p:cNvPr>
          <p:cNvSpPr>
            <a:spLocks noGrp="1"/>
          </p:cNvSpPr>
          <p:nvPr/>
        </p:nvSpPr>
        <p:spPr>
          <a:xfrm>
            <a:off x="1066800" y="2428875"/>
            <a:ext cx="742950" cy="266700"/>
          </a:xfrm>
          <a:prstGeom prst="rect">
            <a:avLst/>
          </a:prstGeom>
          <a:solidFill>
            <a:srgbClr val="3EE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1F156B41-3002-45D4-AFAA-DCA22F753157}"/>
              </a:ext>
            </a:extLst>
          </p:cNvPr>
          <p:cNvSpPr>
            <a:spLocks noGrp="1"/>
          </p:cNvSpPr>
          <p:nvPr/>
        </p:nvSpPr>
        <p:spPr>
          <a:xfrm>
            <a:off x="1066800" y="24765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B462A7AD-3F94-479A-8267-36AC97B4D696}"/>
              </a:ext>
            </a:extLst>
          </p:cNvPr>
          <p:cNvSpPr>
            <a:spLocks noGrp="1"/>
          </p:cNvSpPr>
          <p:nvPr/>
        </p:nvSpPr>
        <p:spPr>
          <a:xfrm>
            <a:off x="2095500" y="240030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/games/{id}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7FF3C83B-C935-4DFC-BC84-E921E30529BA}"/>
              </a:ext>
            </a:extLst>
          </p:cNvPr>
          <p:cNvSpPr>
            <a:spLocks noGrp="1"/>
          </p:cNvSpPr>
          <p:nvPr/>
        </p:nvSpPr>
        <p:spPr>
          <a:xfrm>
            <a:off x="5286375" y="241935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Ficha de un videojuego por ID público de RAWG.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DD65D74C-CFEB-4295-B5C7-CEF35A6AB793}"/>
              </a:ext>
            </a:extLst>
          </p:cNvPr>
          <p:cNvSpPr>
            <a:spLocks noGrp="1"/>
          </p:cNvSpPr>
          <p:nvPr/>
        </p:nvSpPr>
        <p:spPr>
          <a:xfrm>
            <a:off x="857250" y="3105150"/>
            <a:ext cx="9620250" cy="5524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D700A318-F365-4951-9B42-7E72D980280B}"/>
              </a:ext>
            </a:extLst>
          </p:cNvPr>
          <p:cNvSpPr>
            <a:spLocks noGrp="1"/>
          </p:cNvSpPr>
          <p:nvPr/>
        </p:nvSpPr>
        <p:spPr>
          <a:xfrm>
            <a:off x="1066800" y="3248025"/>
            <a:ext cx="742950" cy="266700"/>
          </a:xfrm>
          <a:prstGeom prst="rect">
            <a:avLst/>
          </a:prstGeom>
          <a:solidFill>
            <a:srgbClr val="58F2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A7400ABA-50FC-49AD-85B1-BA24A13422DE}"/>
              </a:ext>
            </a:extLst>
          </p:cNvPr>
          <p:cNvSpPr>
            <a:spLocks noGrp="1"/>
          </p:cNvSpPr>
          <p:nvPr/>
        </p:nvSpPr>
        <p:spPr>
          <a:xfrm>
            <a:off x="1066800" y="329565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F506BB02-81CB-4F15-8179-071F59916872}"/>
              </a:ext>
            </a:extLst>
          </p:cNvPr>
          <p:cNvSpPr>
            <a:spLocks noGrp="1"/>
          </p:cNvSpPr>
          <p:nvPr/>
        </p:nvSpPr>
        <p:spPr>
          <a:xfrm>
            <a:off x="2095500" y="32194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/games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1C783854-AC4E-403A-9791-F19EC6879164}"/>
              </a:ext>
            </a:extLst>
          </p:cNvPr>
          <p:cNvSpPr>
            <a:spLocks noGrp="1"/>
          </p:cNvSpPr>
          <p:nvPr/>
        </p:nvSpPr>
        <p:spPr>
          <a:xfrm>
            <a:off x="5286375" y="32385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Crea un videojuego si el ID no está repetido.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4B294932-1F1F-4760-8D13-CD770FDAE435}"/>
              </a:ext>
            </a:extLst>
          </p:cNvPr>
          <p:cNvSpPr>
            <a:spLocks noGrp="1"/>
          </p:cNvSpPr>
          <p:nvPr/>
        </p:nvSpPr>
        <p:spPr>
          <a:xfrm>
            <a:off x="857250" y="3924300"/>
            <a:ext cx="9620250" cy="5524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AE2C7AF2-DD64-430B-9FE5-026C48B7EB6D}"/>
              </a:ext>
            </a:extLst>
          </p:cNvPr>
          <p:cNvSpPr>
            <a:spLocks noGrp="1"/>
          </p:cNvSpPr>
          <p:nvPr/>
        </p:nvSpPr>
        <p:spPr>
          <a:xfrm>
            <a:off x="1066800" y="4067175"/>
            <a:ext cx="742950" cy="266700"/>
          </a:xfrm>
          <a:prstGeom prst="rect">
            <a:avLst/>
          </a:prstGeom>
          <a:solidFill>
            <a:srgbClr val="FFCA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29C1873B-893A-4000-BD29-A0CC9BD75685}"/>
              </a:ext>
            </a:extLst>
          </p:cNvPr>
          <p:cNvSpPr>
            <a:spLocks noGrp="1"/>
          </p:cNvSpPr>
          <p:nvPr/>
        </p:nvSpPr>
        <p:spPr>
          <a:xfrm>
            <a:off x="1066800" y="41148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PUT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C4CC409B-140B-4879-86C5-A845D14C182B}"/>
              </a:ext>
            </a:extLst>
          </p:cNvPr>
          <p:cNvSpPr>
            <a:spLocks noGrp="1"/>
          </p:cNvSpPr>
          <p:nvPr/>
        </p:nvSpPr>
        <p:spPr>
          <a:xfrm>
            <a:off x="2095500" y="403860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/games/{id}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0D187A9F-16A4-4EF2-8B72-092CD1811472}"/>
              </a:ext>
            </a:extLst>
          </p:cNvPr>
          <p:cNvSpPr>
            <a:spLocks noGrp="1"/>
          </p:cNvSpPr>
          <p:nvPr/>
        </p:nvSpPr>
        <p:spPr>
          <a:xfrm>
            <a:off x="5286375" y="405765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Actualiza campos editables sin cambiar el ID.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8EFFC9FE-4F9E-4034-BAF5-FE2088853AEE}"/>
              </a:ext>
            </a:extLst>
          </p:cNvPr>
          <p:cNvSpPr>
            <a:spLocks noGrp="1"/>
          </p:cNvSpPr>
          <p:nvPr/>
        </p:nvSpPr>
        <p:spPr>
          <a:xfrm>
            <a:off x="857250" y="4743450"/>
            <a:ext cx="9620250" cy="5524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5F5BC4EB-1930-451B-8581-44C6B4D08548}"/>
              </a:ext>
            </a:extLst>
          </p:cNvPr>
          <p:cNvSpPr>
            <a:spLocks noGrp="1"/>
          </p:cNvSpPr>
          <p:nvPr/>
        </p:nvSpPr>
        <p:spPr>
          <a:xfrm>
            <a:off x="1066800" y="4886325"/>
            <a:ext cx="742950" cy="266700"/>
          </a:xfrm>
          <a:prstGeom prst="rect">
            <a:avLst/>
          </a:prstGeom>
          <a:solidFill>
            <a:srgbClr val="FF5A7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F3D6658D-55C9-420C-8E59-9DCB8095E6F1}"/>
              </a:ext>
            </a:extLst>
          </p:cNvPr>
          <p:cNvSpPr>
            <a:spLocks noGrp="1"/>
          </p:cNvSpPr>
          <p:nvPr/>
        </p:nvSpPr>
        <p:spPr>
          <a:xfrm>
            <a:off x="1066800" y="493395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DELETE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96BB5C8D-6937-436E-A246-9EE7809B2691}"/>
              </a:ext>
            </a:extLst>
          </p:cNvPr>
          <p:cNvSpPr>
            <a:spLocks noGrp="1"/>
          </p:cNvSpPr>
          <p:nvPr/>
        </p:nvSpPr>
        <p:spPr>
          <a:xfrm>
            <a:off x="2095500" y="48577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/games/{id}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DAE42FEC-39CF-43C2-8C2E-F4B7197A0FB4}"/>
              </a:ext>
            </a:extLst>
          </p:cNvPr>
          <p:cNvSpPr>
            <a:spLocks noGrp="1"/>
          </p:cNvSpPr>
          <p:nvPr/>
        </p:nvSpPr>
        <p:spPr>
          <a:xfrm>
            <a:off x="5286375" y="48768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Elimina solo si no hay reviews, países o developers asociados.</a:t>
            </a:r>
          </a:p>
        </p:txBody>
      </p:sp>
    </p:spTree>
    <p:extLst>
      <p:ext uri="{BB962C8B-B14F-4D97-AF65-F5344CB8AC3E}">
        <p14:creationId xmlns:p14="http://schemas.microsoft.com/office/powerpoint/2010/main" val="279798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ángulo 62">
            <a:extLst>
              <a:ext uri="{FF2B5EF4-FFF2-40B4-BE49-F238E27FC236}">
                <a16:creationId xmlns:a16="http://schemas.microsoft.com/office/drawing/2014/main" id="{9A483398-85FE-4E23-B3F8-B099899301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0C8FB44-BB81-467C-B1D2-416E67055F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710D8BE-45B9-4FBC-B9EA-9D433484E3D2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721576B-FF63-452B-9833-4869EE079157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2CC2BA6-3942-4B63-BBD8-B0C64BB1C8FC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158EA4A-C76D-435A-B3A2-806C21F800A2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EFE86B5-CAB3-4B1C-ADF9-B9899EAAD083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D37C877-5E63-415E-8657-4E3E27E7A97E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162A87F-1D4F-4D6B-9F68-7636117E3938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76AD282-5CAF-437C-80AB-FFDB0FB0396B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CA8C65E-87C0-4640-9159-F8EF6F22294E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3FB2F05-8504-4A14-99B3-0991088C201F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84F1FD3-D59F-4A98-84D7-0B4EC136B866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4F6317A-87A3-40B9-9BAF-5AAFA55A7696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48515C8-53CC-4CF6-A5AF-C282CA0BC47F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6C45145-35E1-4745-99DA-D34C666B98B3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E784210-83B6-4E2C-B551-7838673F7FB3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9548A32-E2D7-4FE0-9570-47F0652CECCA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B8A3F42-2F7F-4888-8A50-EE95F3A4484D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E62D047-0169-4A21-85E6-8A3D554E2DF7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C7BBC85-6E19-446B-8025-9BE8BC241844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AA73DDF-4240-4133-9F8C-0A00CC2F42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D5C351C-325B-40A8-9E9D-46CE4FCAA30A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DF79713-DAEE-4A7D-90C1-22632803CA77}"/>
              </a:ext>
            </a:extLst>
          </p:cNvPr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7F91277-76AC-4595-BC38-B22D0835A41E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AF25E59-3172-4E43-B08C-241B542CE3B1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58A786FC-D3BF-4DE8-B310-FD58492CB9B6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9F6FB60-2C39-403E-9EFB-E66007216DE8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C75AB16-635A-4A58-B7E8-D6BA8B331D2F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384E2B7-3CED-4C86-8589-3B0506F2B5C8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0EA1124-4208-443B-AA8B-D65E07E60C96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47BDC0B3-18C8-440E-9DCF-3DA91B22C5BA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DC543CA7-10FA-4080-8294-C920A00F1D4C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F501FF7-28BF-493C-8FDC-EC8B4E0516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F6E05FF-445D-4976-B565-D49BF2EF698E}"/>
              </a:ext>
            </a:extLst>
          </p:cNvPr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932ADAD4-CCE7-4849-912F-A604F2954107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125" b="1" dirty="0" err="1">
                <a:solidFill>
                  <a:srgbClr val="C8FF3D"/>
                </a:solidFill>
                <a:latin typeface="Aptos"/>
                <a:ea typeface="Aptos"/>
                <a:cs typeface="Aptos"/>
              </a:rPr>
              <a:t>Consultas</a:t>
            </a:r>
            <a:endParaRPr sz="1125" b="1" dirty="0">
              <a:solidFill>
                <a:srgbClr val="C8FF3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6DD2393D-A1C5-40E0-97D5-59A9320482C9}"/>
              </a:ext>
            </a:extLst>
          </p:cNvPr>
          <p:cNvSpPr>
            <a:spLocks noGrp="1"/>
          </p:cNvSpPr>
          <p:nvPr/>
        </p:nvSpPr>
        <p:spPr>
          <a:xfrm>
            <a:off x="666750" y="695325"/>
            <a:ext cx="7048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Los listados no devuelven todo sin control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DA971D8C-1B93-447E-8EC1-B30136200EFF}"/>
              </a:ext>
            </a:extLst>
          </p:cNvPr>
          <p:cNvSpPr>
            <a:spLocks noGrp="1"/>
          </p:cNvSpPr>
          <p:nvPr/>
        </p:nvSpPr>
        <p:spPr>
          <a:xfrm>
            <a:off x="704850" y="1571625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GET /games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18DBB5AE-8317-44B1-92D6-7C66A4390EF7}"/>
              </a:ext>
            </a:extLst>
          </p:cNvPr>
          <p:cNvSpPr>
            <a:spLocks noGrp="1"/>
          </p:cNvSpPr>
          <p:nvPr/>
        </p:nvSpPr>
        <p:spPr>
          <a:xfrm>
            <a:off x="723900" y="2095500"/>
            <a:ext cx="4429125" cy="495300"/>
          </a:xfrm>
          <a:prstGeom prst="rect">
            <a:avLst/>
          </a:prstGeom>
          <a:solidFill>
            <a:srgbClr val="191920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FE23AA83-B427-4FE8-ABA2-5F11426959CE}"/>
              </a:ext>
            </a:extLst>
          </p:cNvPr>
          <p:cNvSpPr>
            <a:spLocks noGrp="1"/>
          </p:cNvSpPr>
          <p:nvPr/>
        </p:nvSpPr>
        <p:spPr>
          <a:xfrm>
            <a:off x="895350" y="222885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EE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E7FF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7121521E-9456-47EC-8ED2-55453EC7273F}"/>
              </a:ext>
            </a:extLst>
          </p:cNvPr>
          <p:cNvSpPr>
            <a:spLocks noGrp="1"/>
          </p:cNvSpPr>
          <p:nvPr/>
        </p:nvSpPr>
        <p:spPr>
          <a:xfrm>
            <a:off x="2295525" y="2238375"/>
            <a:ext cx="2571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busca por nombre o slug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BDF1D796-FEBE-4CED-9875-0816AEE1A06A}"/>
              </a:ext>
            </a:extLst>
          </p:cNvPr>
          <p:cNvSpPr>
            <a:spLocks noGrp="1"/>
          </p:cNvSpPr>
          <p:nvPr/>
        </p:nvSpPr>
        <p:spPr>
          <a:xfrm>
            <a:off x="5819775" y="2095500"/>
            <a:ext cx="4429125" cy="495300"/>
          </a:xfrm>
          <a:prstGeom prst="rect">
            <a:avLst/>
          </a:prstGeom>
          <a:solidFill>
            <a:srgbClr val="191920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60FCD15A-78C3-4671-8BA5-6F40DFF0770D}"/>
              </a:ext>
            </a:extLst>
          </p:cNvPr>
          <p:cNvSpPr>
            <a:spLocks noGrp="1"/>
          </p:cNvSpPr>
          <p:nvPr/>
        </p:nvSpPr>
        <p:spPr>
          <a:xfrm>
            <a:off x="5991225" y="222885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EE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E7FF"/>
                </a:solidFill>
                <a:latin typeface="Aptos"/>
                <a:ea typeface="Aptos"/>
                <a:cs typeface="Aptos"/>
              </a:rPr>
              <a:t>id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81B5A13-D0B6-4359-BCF9-596796BE0E9C}"/>
              </a:ext>
            </a:extLst>
          </p:cNvPr>
          <p:cNvSpPr>
            <a:spLocks noGrp="1"/>
          </p:cNvSpPr>
          <p:nvPr/>
        </p:nvSpPr>
        <p:spPr>
          <a:xfrm>
            <a:off x="7391400" y="2238375"/>
            <a:ext cx="2571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localiza un videojuego concreto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FE0D2CC3-10F8-430A-97EF-EBE0E637D588}"/>
              </a:ext>
            </a:extLst>
          </p:cNvPr>
          <p:cNvSpPr>
            <a:spLocks noGrp="1"/>
          </p:cNvSpPr>
          <p:nvPr/>
        </p:nvSpPr>
        <p:spPr>
          <a:xfrm>
            <a:off x="723900" y="2838450"/>
            <a:ext cx="4429125" cy="495300"/>
          </a:xfrm>
          <a:prstGeom prst="rect">
            <a:avLst/>
          </a:prstGeom>
          <a:solidFill>
            <a:srgbClr val="191920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D56EAD80-BCA5-4EC2-B778-DF21341DCCCC}"/>
              </a:ext>
            </a:extLst>
          </p:cNvPr>
          <p:cNvSpPr>
            <a:spLocks noGrp="1"/>
          </p:cNvSpPr>
          <p:nvPr/>
        </p:nvSpPr>
        <p:spPr>
          <a:xfrm>
            <a:off x="895350" y="29718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EE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E7FF"/>
                </a:solidFill>
                <a:latin typeface="Aptos"/>
                <a:ea typeface="Aptos"/>
                <a:cs typeface="Aptos"/>
              </a:rPr>
              <a:t>platform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FE98684D-D3CC-408F-B569-5440CB347EC0}"/>
              </a:ext>
            </a:extLst>
          </p:cNvPr>
          <p:cNvSpPr>
            <a:spLocks noGrp="1"/>
          </p:cNvSpPr>
          <p:nvPr/>
        </p:nvSpPr>
        <p:spPr>
          <a:xfrm>
            <a:off x="2295525" y="2981325"/>
            <a:ext cx="2571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filtra por plataforma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BC9A0DD0-85B7-4460-BF3F-F334175A0983}"/>
              </a:ext>
            </a:extLst>
          </p:cNvPr>
          <p:cNvSpPr>
            <a:spLocks noGrp="1"/>
          </p:cNvSpPr>
          <p:nvPr/>
        </p:nvSpPr>
        <p:spPr>
          <a:xfrm>
            <a:off x="5819775" y="2838450"/>
            <a:ext cx="4429125" cy="495300"/>
          </a:xfrm>
          <a:prstGeom prst="rect">
            <a:avLst/>
          </a:prstGeom>
          <a:solidFill>
            <a:srgbClr val="191920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A0EEEAA6-5DFD-438A-8BA2-884DBB414DF7}"/>
              </a:ext>
            </a:extLst>
          </p:cNvPr>
          <p:cNvSpPr>
            <a:spLocks noGrp="1"/>
          </p:cNvSpPr>
          <p:nvPr/>
        </p:nvSpPr>
        <p:spPr>
          <a:xfrm>
            <a:off x="5991225" y="29718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EE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E7FF"/>
                </a:solidFill>
                <a:latin typeface="Aptos"/>
                <a:ea typeface="Aptos"/>
                <a:cs typeface="Aptos"/>
              </a:rPr>
              <a:t>genre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82CD751D-AA04-4C63-8E89-DB1BAD6B9F72}"/>
              </a:ext>
            </a:extLst>
          </p:cNvPr>
          <p:cNvSpPr>
            <a:spLocks noGrp="1"/>
          </p:cNvSpPr>
          <p:nvPr/>
        </p:nvSpPr>
        <p:spPr>
          <a:xfrm>
            <a:off x="7391400" y="2981325"/>
            <a:ext cx="2571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filtra por género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2D637BB8-C5D4-4FCF-9E7C-3C1337D360C3}"/>
              </a:ext>
            </a:extLst>
          </p:cNvPr>
          <p:cNvSpPr>
            <a:spLocks noGrp="1"/>
          </p:cNvSpPr>
          <p:nvPr/>
        </p:nvSpPr>
        <p:spPr>
          <a:xfrm>
            <a:off x="723900" y="3581400"/>
            <a:ext cx="4429125" cy="495300"/>
          </a:xfrm>
          <a:prstGeom prst="rect">
            <a:avLst/>
          </a:prstGeom>
          <a:solidFill>
            <a:srgbClr val="191920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2DB78059-305E-4B72-BEB5-6300AA474525}"/>
              </a:ext>
            </a:extLst>
          </p:cNvPr>
          <p:cNvSpPr>
            <a:spLocks noGrp="1"/>
          </p:cNvSpPr>
          <p:nvPr/>
        </p:nvSpPr>
        <p:spPr>
          <a:xfrm>
            <a:off x="895350" y="371475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EE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E7FF"/>
                </a:solidFill>
                <a:latin typeface="Aptos"/>
                <a:ea typeface="Aptos"/>
                <a:cs typeface="Aptos"/>
              </a:rPr>
              <a:t>store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98A21EC8-F0D4-40C8-9BBC-5ECF29DD540A}"/>
              </a:ext>
            </a:extLst>
          </p:cNvPr>
          <p:cNvSpPr>
            <a:spLocks noGrp="1"/>
          </p:cNvSpPr>
          <p:nvPr/>
        </p:nvSpPr>
        <p:spPr>
          <a:xfrm>
            <a:off x="2295525" y="3724275"/>
            <a:ext cx="2571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filtra por tienda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EEE5AFFB-F408-41FE-ABF0-1AFACF7B102E}"/>
              </a:ext>
            </a:extLst>
          </p:cNvPr>
          <p:cNvSpPr>
            <a:spLocks noGrp="1"/>
          </p:cNvSpPr>
          <p:nvPr/>
        </p:nvSpPr>
        <p:spPr>
          <a:xfrm>
            <a:off x="5819775" y="3581400"/>
            <a:ext cx="4429125" cy="495300"/>
          </a:xfrm>
          <a:prstGeom prst="rect">
            <a:avLst/>
          </a:prstGeom>
          <a:solidFill>
            <a:srgbClr val="191920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514BED5D-B334-42D7-B9CA-6F147812DB86}"/>
              </a:ext>
            </a:extLst>
          </p:cNvPr>
          <p:cNvSpPr>
            <a:spLocks noGrp="1"/>
          </p:cNvSpPr>
          <p:nvPr/>
        </p:nvSpPr>
        <p:spPr>
          <a:xfrm>
            <a:off x="5991225" y="371475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EE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E7FF"/>
                </a:solidFill>
                <a:latin typeface="Aptos"/>
                <a:ea typeface="Aptos"/>
                <a:cs typeface="Aptos"/>
              </a:rPr>
              <a:t>minRating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1F3AE398-5023-439F-B7B9-E2F21C102741}"/>
              </a:ext>
            </a:extLst>
          </p:cNvPr>
          <p:cNvSpPr>
            <a:spLocks noGrp="1"/>
          </p:cNvSpPr>
          <p:nvPr/>
        </p:nvSpPr>
        <p:spPr>
          <a:xfrm>
            <a:off x="7391400" y="3724275"/>
            <a:ext cx="2571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rating mínimo entre 0 y 5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83ED977E-0E8D-4FA0-A4D0-002559031E66}"/>
              </a:ext>
            </a:extLst>
          </p:cNvPr>
          <p:cNvSpPr>
            <a:spLocks noGrp="1"/>
          </p:cNvSpPr>
          <p:nvPr/>
        </p:nvSpPr>
        <p:spPr>
          <a:xfrm>
            <a:off x="723900" y="4324350"/>
            <a:ext cx="4429125" cy="495300"/>
          </a:xfrm>
          <a:prstGeom prst="rect">
            <a:avLst/>
          </a:prstGeom>
          <a:solidFill>
            <a:srgbClr val="191920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0C65CBBB-A5DF-4119-9D0E-F48C1483DB34}"/>
              </a:ext>
            </a:extLst>
          </p:cNvPr>
          <p:cNvSpPr>
            <a:spLocks noGrp="1"/>
          </p:cNvSpPr>
          <p:nvPr/>
        </p:nvSpPr>
        <p:spPr>
          <a:xfrm>
            <a:off x="895350" y="44577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EE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E7FF"/>
                </a:solidFill>
                <a:latin typeface="Aptos"/>
                <a:ea typeface="Aptos"/>
                <a:cs typeface="Aptos"/>
              </a:rPr>
              <a:t>page + limit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9FB3DAD8-E923-44A6-9CF1-B3EE164B29E2}"/>
              </a:ext>
            </a:extLst>
          </p:cNvPr>
          <p:cNvSpPr>
            <a:spLocks noGrp="1"/>
          </p:cNvSpPr>
          <p:nvPr/>
        </p:nvSpPr>
        <p:spPr>
          <a:xfrm>
            <a:off x="2295525" y="4467225"/>
            <a:ext cx="2571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paginación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5ECEED27-A7F9-465E-8944-DBB55A1C2A93}"/>
              </a:ext>
            </a:extLst>
          </p:cNvPr>
          <p:cNvSpPr>
            <a:spLocks noGrp="1"/>
          </p:cNvSpPr>
          <p:nvPr/>
        </p:nvSpPr>
        <p:spPr>
          <a:xfrm>
            <a:off x="5819775" y="4324350"/>
            <a:ext cx="4429125" cy="495300"/>
          </a:xfrm>
          <a:prstGeom prst="rect">
            <a:avLst/>
          </a:prstGeom>
          <a:solidFill>
            <a:srgbClr val="191920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DB454577-5A65-486B-B523-7B7AB77B3735}"/>
              </a:ext>
            </a:extLst>
          </p:cNvPr>
          <p:cNvSpPr>
            <a:spLocks noGrp="1"/>
          </p:cNvSpPr>
          <p:nvPr/>
        </p:nvSpPr>
        <p:spPr>
          <a:xfrm>
            <a:off x="5991225" y="44577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EE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E7FF"/>
                </a:solidFill>
                <a:latin typeface="Aptos"/>
                <a:ea typeface="Aptos"/>
                <a:cs typeface="Aptos"/>
              </a:rPr>
              <a:t>sort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EAD931D9-3825-497F-8A3D-DAB46687C4D1}"/>
              </a:ext>
            </a:extLst>
          </p:cNvPr>
          <p:cNvSpPr>
            <a:spLocks noGrp="1"/>
          </p:cNvSpPr>
          <p:nvPr/>
        </p:nvSpPr>
        <p:spPr>
          <a:xfrm>
            <a:off x="7391400" y="4467225"/>
            <a:ext cx="2571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id, name, released, rating, metacritic o playtime; '-' invierte el orden</a:t>
            </a:r>
          </a:p>
        </p:txBody>
      </p:sp>
    </p:spTree>
    <p:extLst>
      <p:ext uri="{BB962C8B-B14F-4D97-AF65-F5344CB8AC3E}">
        <p14:creationId xmlns:p14="http://schemas.microsoft.com/office/powerpoint/2010/main" val="766491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ángulo 52">
            <a:extLst>
              <a:ext uri="{FF2B5EF4-FFF2-40B4-BE49-F238E27FC236}">
                <a16:creationId xmlns:a16="http://schemas.microsoft.com/office/drawing/2014/main" id="{8194C10F-2FF5-4A89-B6DE-8FEDB81CDB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48868E1-3545-4297-9F76-E90D86B7AE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44467B0-9C2F-498D-8775-7EBCBED05255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2EB384C-C73A-4741-9A00-95CC840C020F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8ADEAAD-DE76-4517-93E8-3507389DF394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56CCF15-F14C-4D04-814E-55F44701217E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C15A35B-39D5-4C1E-9516-BD5DBDE6065F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9419B97-56D3-4F84-A7BA-EBB6C6AA70A9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B74143A-A293-4242-8F6A-B79BB76915EE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EE90E43-BC0B-4A86-8C7E-1EBCD6688506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CC9FA6B-5503-419E-8D61-2F70E24EC918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9F08117-8997-4533-83E6-A82C9284AF3E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99A82F6-F5DD-4980-B612-982F745A4743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A609A57-043B-4D0B-8940-AFB624674790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48959D3-BB14-47AB-84F9-010EB58D3B71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CC0E409-65DE-4148-9FF7-ADCEFB62329F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B4EA0FD-1212-43BA-9ACB-E2A67225ECA4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D1997CC-C758-43A2-9FA2-0B1B4D3345E5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86E4ACA-49C8-42B7-9B68-DCE97D9D7162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2A96F93-47D5-47AF-AABD-E8DF2CB06410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DD31E71-70B5-4FE7-ABE5-F20CB205825E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7C65EBC-BB81-4CEC-BC47-B825F2D904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9FC48A7-6D2C-4307-BB31-98B4F0CE87C8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F27C221-46D9-401F-8E8B-C63BF43351BA}"/>
              </a:ext>
            </a:extLst>
          </p:cNvPr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E12AC15-9A1C-499D-9E99-E861CC115283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23D70E8-695B-44CD-96D2-68094EA0FE11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886C8975-3DE4-4B4D-93E1-DAAFA384E0BA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FECD309-11CC-4ABB-B896-C99FAC0A21C2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DA51D6B-3488-4FF5-80FD-23CFE7257E80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DE8F09C-05AD-4615-8896-2A32153DCBE6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8130235-1594-42F2-B55B-638433FFD1DA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4596AD97-962B-45F3-AD67-A80CEEE83929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793AE15-B8A6-4EED-ABD9-EC7A61DD3296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9B1A15E7-3833-403E-BFFB-CCF8F174EB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19185BB0-7B93-4B78-9108-43E12E43383F}"/>
              </a:ext>
            </a:extLst>
          </p:cNvPr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10109001-915A-4E6F-B5F6-89F71F10C498}"/>
              </a:ext>
            </a:extLst>
          </p:cNvPr>
          <p:cNvSpPr>
            <a:spLocks noGrp="1"/>
          </p:cNvSpPr>
          <p:nvPr/>
        </p:nvSpPr>
        <p:spPr>
          <a:xfrm>
            <a:off x="666750" y="695325"/>
            <a:ext cx="7048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255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Rutas de /games </a:t>
            </a:r>
            <a:r>
              <a:rPr sz="255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que</a:t>
            </a:r>
            <a:r>
              <a:rPr sz="255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 </a:t>
            </a:r>
            <a:r>
              <a:rPr sz="255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juntan</a:t>
            </a:r>
            <a:r>
              <a:rPr sz="255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 </a:t>
            </a:r>
            <a:r>
              <a:rPr sz="255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recursos</a:t>
            </a:r>
            <a:r>
              <a:rPr sz="255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 </a:t>
            </a:r>
            <a:r>
              <a:rPr sz="255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relacionados</a:t>
            </a:r>
            <a:endParaRPr sz="2550" b="1" dirty="0">
              <a:solidFill>
                <a:srgbClr val="F5F5F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E3D97FF9-0255-4057-B4DB-434CA583D2FF}"/>
              </a:ext>
            </a:extLst>
          </p:cNvPr>
          <p:cNvSpPr>
            <a:spLocks noGrp="1"/>
          </p:cNvSpPr>
          <p:nvPr/>
        </p:nvSpPr>
        <p:spPr>
          <a:xfrm>
            <a:off x="878515" y="2109788"/>
            <a:ext cx="9620250" cy="5524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33BA8E63-40AF-4DCB-8219-D58EF2DDE2E4}"/>
              </a:ext>
            </a:extLst>
          </p:cNvPr>
          <p:cNvSpPr>
            <a:spLocks noGrp="1"/>
          </p:cNvSpPr>
          <p:nvPr/>
        </p:nvSpPr>
        <p:spPr>
          <a:xfrm>
            <a:off x="1088065" y="2252663"/>
            <a:ext cx="742950" cy="266700"/>
          </a:xfrm>
          <a:prstGeom prst="rect">
            <a:avLst/>
          </a:prstGeom>
          <a:solidFill>
            <a:srgbClr val="3EE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A1910740-AD1E-4C0A-BD10-FEC4F1438F02}"/>
              </a:ext>
            </a:extLst>
          </p:cNvPr>
          <p:cNvSpPr>
            <a:spLocks noGrp="1"/>
          </p:cNvSpPr>
          <p:nvPr/>
        </p:nvSpPr>
        <p:spPr>
          <a:xfrm>
            <a:off x="1088065" y="2300288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322CCE3B-035C-4AC0-978B-C11062944758}"/>
              </a:ext>
            </a:extLst>
          </p:cNvPr>
          <p:cNvSpPr>
            <a:spLocks noGrp="1"/>
          </p:cNvSpPr>
          <p:nvPr/>
        </p:nvSpPr>
        <p:spPr>
          <a:xfrm>
            <a:off x="2116765" y="2224088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/games/{id}/reviews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EEF0B6E5-6DA7-4A52-ABF9-3207FAD27F0B}"/>
              </a:ext>
            </a:extLst>
          </p:cNvPr>
          <p:cNvSpPr>
            <a:spLocks noGrp="1"/>
          </p:cNvSpPr>
          <p:nvPr/>
        </p:nvSpPr>
        <p:spPr>
          <a:xfrm>
            <a:off x="5307640" y="2243138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Devuelve el juego y sus reviews en JSON.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6738F1A1-302A-4C3F-BDCF-999A8BFAD3B3}"/>
              </a:ext>
            </a:extLst>
          </p:cNvPr>
          <p:cNvSpPr>
            <a:spLocks noGrp="1"/>
          </p:cNvSpPr>
          <p:nvPr/>
        </p:nvSpPr>
        <p:spPr>
          <a:xfrm>
            <a:off x="878515" y="2928938"/>
            <a:ext cx="9620250" cy="5524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6D1366FE-780D-4853-AE2E-A85B7038E892}"/>
              </a:ext>
            </a:extLst>
          </p:cNvPr>
          <p:cNvSpPr>
            <a:spLocks noGrp="1"/>
          </p:cNvSpPr>
          <p:nvPr/>
        </p:nvSpPr>
        <p:spPr>
          <a:xfrm>
            <a:off x="1088065" y="3071813"/>
            <a:ext cx="742950" cy="266700"/>
          </a:xfrm>
          <a:prstGeom prst="rect">
            <a:avLst/>
          </a:prstGeom>
          <a:solidFill>
            <a:srgbClr val="3EE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C800B473-37CF-4296-9310-899B932EE712}"/>
              </a:ext>
            </a:extLst>
          </p:cNvPr>
          <p:cNvSpPr>
            <a:spLocks noGrp="1"/>
          </p:cNvSpPr>
          <p:nvPr/>
        </p:nvSpPr>
        <p:spPr>
          <a:xfrm>
            <a:off x="1088065" y="3119438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DBC2625C-B93B-4BDC-B6FB-679F442699E2}"/>
              </a:ext>
            </a:extLst>
          </p:cNvPr>
          <p:cNvSpPr>
            <a:spLocks noGrp="1"/>
          </p:cNvSpPr>
          <p:nvPr/>
        </p:nvSpPr>
        <p:spPr>
          <a:xfrm>
            <a:off x="2116765" y="3043238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/games/{id}/country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5F4D2F1C-73B3-4EA3-B5D1-88EEEACEF8AB}"/>
              </a:ext>
            </a:extLst>
          </p:cNvPr>
          <p:cNvSpPr>
            <a:spLocks noGrp="1"/>
          </p:cNvSpPr>
          <p:nvPr/>
        </p:nvSpPr>
        <p:spPr>
          <a:xfrm>
            <a:off x="5307640" y="3062288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Devuelve en XML los países de los desarrolladores asociados.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3FAC20F9-4F7D-4394-A910-9C97C98083AB}"/>
              </a:ext>
            </a:extLst>
          </p:cNvPr>
          <p:cNvSpPr>
            <a:spLocks noGrp="1"/>
          </p:cNvSpPr>
          <p:nvPr/>
        </p:nvSpPr>
        <p:spPr>
          <a:xfrm>
            <a:off x="878515" y="3748088"/>
            <a:ext cx="9620250" cy="5524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5BBE2DFC-6D3B-4DFA-95CD-AB6AA45B4224}"/>
              </a:ext>
            </a:extLst>
          </p:cNvPr>
          <p:cNvSpPr>
            <a:spLocks noGrp="1"/>
          </p:cNvSpPr>
          <p:nvPr/>
        </p:nvSpPr>
        <p:spPr>
          <a:xfrm>
            <a:off x="1088065" y="3890963"/>
            <a:ext cx="742950" cy="266700"/>
          </a:xfrm>
          <a:prstGeom prst="rect">
            <a:avLst/>
          </a:prstGeom>
          <a:solidFill>
            <a:srgbClr val="3EE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FEC3AB5F-967D-4E91-AA3A-EA732388D947}"/>
              </a:ext>
            </a:extLst>
          </p:cNvPr>
          <p:cNvSpPr>
            <a:spLocks noGrp="1"/>
          </p:cNvSpPr>
          <p:nvPr/>
        </p:nvSpPr>
        <p:spPr>
          <a:xfrm>
            <a:off x="1088065" y="3938588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557DC515-CDA3-4DED-9758-DE4F41E3BB60}"/>
              </a:ext>
            </a:extLst>
          </p:cNvPr>
          <p:cNvSpPr>
            <a:spLocks noGrp="1"/>
          </p:cNvSpPr>
          <p:nvPr/>
        </p:nvSpPr>
        <p:spPr>
          <a:xfrm>
            <a:off x="2116765" y="3862388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/games/{id}/enriched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B9E668C6-2A64-437E-AC44-0A42D0BC11D5}"/>
              </a:ext>
            </a:extLst>
          </p:cNvPr>
          <p:cNvSpPr>
            <a:spLocks noGrp="1"/>
          </p:cNvSpPr>
          <p:nvPr/>
        </p:nvSpPr>
        <p:spPr>
          <a:xfrm>
            <a:off x="5307640" y="3881438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Devuelve juego, reviews y países en una sola respuesta para la demo.</a:t>
            </a:r>
          </a:p>
        </p:txBody>
      </p:sp>
    </p:spTree>
    <p:extLst>
      <p:ext uri="{BB962C8B-B14F-4D97-AF65-F5344CB8AC3E}">
        <p14:creationId xmlns:p14="http://schemas.microsoft.com/office/powerpoint/2010/main" val="825896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ángulo 62">
            <a:extLst>
              <a:ext uri="{FF2B5EF4-FFF2-40B4-BE49-F238E27FC236}">
                <a16:creationId xmlns:a16="http://schemas.microsoft.com/office/drawing/2014/main" id="{7ED35CB1-6965-4A86-8159-CCDD3C94B4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4C7F45F-CDDC-4B50-B517-CA4164E822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E58A1F0-1F56-4A41-BFBF-4816A797C568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5EDDDEE-0D90-432A-AE14-622C04B98C3B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61174D9-E5B3-485C-A6BB-A5E1500A339A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2A6D007-37A8-492C-AA39-14BD50330857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54D4CDB-4237-42CC-8E3D-28F1F28BD739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E4940B1-D921-4A3B-A512-B3D38C0635C9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C35F8A8-4B5C-46F6-AE41-1789C6CDACA6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19A7022-F198-455F-A38B-F05F6C82D762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7877813-D41E-4DE9-B391-AA5CBB292A66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7DDD9E7-7E92-4C55-B95F-BAD0FD3AE1E5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BEE3AEF-CC8D-437D-82E0-6B34149716D7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72359EB-E931-4049-A68C-E98D42BA0586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B40B802-E7C1-4833-8AFA-26DD9B1601C3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7E947B1-CB38-47A8-95CE-88E532BF69D7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EAD7444-84E8-4488-9440-3EB6BCE7F52B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3DE06AF-F124-4A84-84CF-EBB79EA3DDF1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47A6634-EB81-4E9C-966B-644F6F756775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4D96C57-3746-4CFC-917E-7FF4439627DE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CCC5958-850E-4DA4-BA03-0C011539EA25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6C50268-D660-4247-B3D8-B700675722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0D100A6-18F5-45D0-9ACF-A1F88224F1B7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92FEFCA-2BE4-4605-8B19-5824D763A36D}"/>
              </a:ext>
            </a:extLst>
          </p:cNvPr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FE31E7B-9FEB-4C05-B261-157141265049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50FAFE02-0C7F-41F2-8B7E-3433932915EA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5AD0CEF1-4144-4D04-AC0B-BC8F94F97A6B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0CFEFC3-797E-4937-BC05-2E232AC64C1F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64CD3B9-8C1A-421F-ABEC-52E76A401589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AEDF9A17-0AE6-4D88-860D-8908E9A3E767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9062DB99-A27C-412F-A560-2AECF0532816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4B479A57-DE37-4C59-B6C7-1633595503DD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70A00B2E-3719-41FB-88C7-8DF190F05ED7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1618E63-8830-4260-8720-2E1013DAF8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BD06DD90-6B7F-4C7F-9928-03262E6FB2F6}"/>
              </a:ext>
            </a:extLst>
          </p:cNvPr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6ACF0DE5-BAF9-459F-808F-81372E4817F8}"/>
              </a:ext>
            </a:extLst>
          </p:cNvPr>
          <p:cNvSpPr>
            <a:spLocks noGrp="1"/>
          </p:cNvSpPr>
          <p:nvPr/>
        </p:nvSpPr>
        <p:spPr>
          <a:xfrm>
            <a:off x="628650" y="495300"/>
            <a:ext cx="860041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255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/developers </a:t>
            </a:r>
            <a:r>
              <a:rPr sz="255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gestiona</a:t>
            </a:r>
            <a:r>
              <a:rPr sz="255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 </a:t>
            </a:r>
            <a:r>
              <a:rPr sz="255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estudios</a:t>
            </a:r>
            <a:r>
              <a:rPr sz="255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 y </a:t>
            </a:r>
            <a:r>
              <a:rPr sz="255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relación</a:t>
            </a:r>
            <a:r>
              <a:rPr sz="255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 con </a:t>
            </a:r>
            <a:r>
              <a:rPr sz="255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juegos</a:t>
            </a:r>
            <a:endParaRPr sz="2550" b="1" dirty="0">
              <a:solidFill>
                <a:srgbClr val="F5F5F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95CEEE45-42E0-49C2-B0E9-E30B5991973C}"/>
              </a:ext>
            </a:extLst>
          </p:cNvPr>
          <p:cNvSpPr>
            <a:spLocks noGrp="1"/>
          </p:cNvSpPr>
          <p:nvPr/>
        </p:nvSpPr>
        <p:spPr>
          <a:xfrm>
            <a:off x="857250" y="1466850"/>
            <a:ext cx="9620250" cy="5524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055685F9-1D84-4D30-A316-BDFDE9EF7084}"/>
              </a:ext>
            </a:extLst>
          </p:cNvPr>
          <p:cNvSpPr>
            <a:spLocks noGrp="1"/>
          </p:cNvSpPr>
          <p:nvPr/>
        </p:nvSpPr>
        <p:spPr>
          <a:xfrm>
            <a:off x="1066800" y="1609725"/>
            <a:ext cx="742950" cy="266700"/>
          </a:xfrm>
          <a:prstGeom prst="rect">
            <a:avLst/>
          </a:prstGeom>
          <a:solidFill>
            <a:srgbClr val="3EE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EF36AE45-2794-474B-ABF8-ED4E0EB1C26E}"/>
              </a:ext>
            </a:extLst>
          </p:cNvPr>
          <p:cNvSpPr>
            <a:spLocks noGrp="1"/>
          </p:cNvSpPr>
          <p:nvPr/>
        </p:nvSpPr>
        <p:spPr>
          <a:xfrm>
            <a:off x="1066800" y="165735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992865-3A49-450D-A156-15ED74E7B616}"/>
              </a:ext>
            </a:extLst>
          </p:cNvPr>
          <p:cNvSpPr>
            <a:spLocks noGrp="1"/>
          </p:cNvSpPr>
          <p:nvPr/>
        </p:nvSpPr>
        <p:spPr>
          <a:xfrm>
            <a:off x="2095500" y="15811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/developers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0DEF6A3B-37A8-4E24-8853-2AE892AF18F9}"/>
              </a:ext>
            </a:extLst>
          </p:cNvPr>
          <p:cNvSpPr>
            <a:spLocks noGrp="1"/>
          </p:cNvSpPr>
          <p:nvPr/>
        </p:nvSpPr>
        <p:spPr>
          <a:xfrm>
            <a:off x="5286375" y="16002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Listado con search, gameId, page, limit y sort.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7690A0F7-41C0-4217-A5E4-0594723AEC10}"/>
              </a:ext>
            </a:extLst>
          </p:cNvPr>
          <p:cNvSpPr>
            <a:spLocks noGrp="1"/>
          </p:cNvSpPr>
          <p:nvPr/>
        </p:nvSpPr>
        <p:spPr>
          <a:xfrm>
            <a:off x="857250" y="2286000"/>
            <a:ext cx="9620250" cy="5524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5741B269-88AD-4E3C-9B10-674060808014}"/>
              </a:ext>
            </a:extLst>
          </p:cNvPr>
          <p:cNvSpPr>
            <a:spLocks noGrp="1"/>
          </p:cNvSpPr>
          <p:nvPr/>
        </p:nvSpPr>
        <p:spPr>
          <a:xfrm>
            <a:off x="1066800" y="2428875"/>
            <a:ext cx="742950" cy="266700"/>
          </a:xfrm>
          <a:prstGeom prst="rect">
            <a:avLst/>
          </a:prstGeom>
          <a:solidFill>
            <a:srgbClr val="3EE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4120549E-108E-4D5A-9B65-DB3AA31D86E5}"/>
              </a:ext>
            </a:extLst>
          </p:cNvPr>
          <p:cNvSpPr>
            <a:spLocks noGrp="1"/>
          </p:cNvSpPr>
          <p:nvPr/>
        </p:nvSpPr>
        <p:spPr>
          <a:xfrm>
            <a:off x="1066800" y="24765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5371EB47-7CC4-4A11-8C39-D817761DC0BE}"/>
              </a:ext>
            </a:extLst>
          </p:cNvPr>
          <p:cNvSpPr>
            <a:spLocks noGrp="1"/>
          </p:cNvSpPr>
          <p:nvPr/>
        </p:nvSpPr>
        <p:spPr>
          <a:xfrm>
            <a:off x="2095500" y="240030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/developers/{id}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7B79D65D-21EF-43D4-A156-3A0984ACB911}"/>
              </a:ext>
            </a:extLst>
          </p:cNvPr>
          <p:cNvSpPr>
            <a:spLocks noGrp="1"/>
          </p:cNvSpPr>
          <p:nvPr/>
        </p:nvSpPr>
        <p:spPr>
          <a:xfrm>
            <a:off x="5286375" y="241935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Consulta por ID público del desarrollador.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BFFE37EC-46CE-43EB-940A-7597662328FD}"/>
              </a:ext>
            </a:extLst>
          </p:cNvPr>
          <p:cNvSpPr>
            <a:spLocks noGrp="1"/>
          </p:cNvSpPr>
          <p:nvPr/>
        </p:nvSpPr>
        <p:spPr>
          <a:xfrm>
            <a:off x="857250" y="3105150"/>
            <a:ext cx="9620250" cy="5524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456998FA-28B6-423B-B179-17B59AE11459}"/>
              </a:ext>
            </a:extLst>
          </p:cNvPr>
          <p:cNvSpPr>
            <a:spLocks noGrp="1"/>
          </p:cNvSpPr>
          <p:nvPr/>
        </p:nvSpPr>
        <p:spPr>
          <a:xfrm>
            <a:off x="1066800" y="3248025"/>
            <a:ext cx="742950" cy="266700"/>
          </a:xfrm>
          <a:prstGeom prst="rect">
            <a:avLst/>
          </a:prstGeom>
          <a:solidFill>
            <a:srgbClr val="58F2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31BF5AD2-CF1F-4E8A-B707-0A84BB6B06EE}"/>
              </a:ext>
            </a:extLst>
          </p:cNvPr>
          <p:cNvSpPr>
            <a:spLocks noGrp="1"/>
          </p:cNvSpPr>
          <p:nvPr/>
        </p:nvSpPr>
        <p:spPr>
          <a:xfrm>
            <a:off x="1066800" y="329565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DDE631D1-B9AB-4BDA-9DE5-EEA36FD64FCA}"/>
              </a:ext>
            </a:extLst>
          </p:cNvPr>
          <p:cNvSpPr>
            <a:spLocks noGrp="1"/>
          </p:cNvSpPr>
          <p:nvPr/>
        </p:nvSpPr>
        <p:spPr>
          <a:xfrm>
            <a:off x="2095500" y="32194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/developers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AC57C92A-17B8-41C6-BDC1-6B0076111FE2}"/>
              </a:ext>
            </a:extLst>
          </p:cNvPr>
          <p:cNvSpPr>
            <a:spLocks noGrp="1"/>
          </p:cNvSpPr>
          <p:nvPr/>
        </p:nvSpPr>
        <p:spPr>
          <a:xfrm>
            <a:off x="5286375" y="32385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Crea un desarrollador con juegos asociados existentes.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0474E7DC-E9A3-43BE-AF7D-5C1F17C734A1}"/>
              </a:ext>
            </a:extLst>
          </p:cNvPr>
          <p:cNvSpPr>
            <a:spLocks noGrp="1"/>
          </p:cNvSpPr>
          <p:nvPr/>
        </p:nvSpPr>
        <p:spPr>
          <a:xfrm>
            <a:off x="857250" y="3924300"/>
            <a:ext cx="9620250" cy="5524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18CD66E6-960C-44A2-8C8F-CA5045851ED2}"/>
              </a:ext>
            </a:extLst>
          </p:cNvPr>
          <p:cNvSpPr>
            <a:spLocks noGrp="1"/>
          </p:cNvSpPr>
          <p:nvPr/>
        </p:nvSpPr>
        <p:spPr>
          <a:xfrm>
            <a:off x="1066800" y="4067175"/>
            <a:ext cx="742950" cy="266700"/>
          </a:xfrm>
          <a:prstGeom prst="rect">
            <a:avLst/>
          </a:prstGeom>
          <a:solidFill>
            <a:srgbClr val="FFCA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6D1F066D-32FF-418A-9530-6B8C08FD7D97}"/>
              </a:ext>
            </a:extLst>
          </p:cNvPr>
          <p:cNvSpPr>
            <a:spLocks noGrp="1"/>
          </p:cNvSpPr>
          <p:nvPr/>
        </p:nvSpPr>
        <p:spPr>
          <a:xfrm>
            <a:off x="1066800" y="41148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PUT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B4918E95-B8D6-47D8-97C2-01345589A77D}"/>
              </a:ext>
            </a:extLst>
          </p:cNvPr>
          <p:cNvSpPr>
            <a:spLocks noGrp="1"/>
          </p:cNvSpPr>
          <p:nvPr/>
        </p:nvSpPr>
        <p:spPr>
          <a:xfrm>
            <a:off x="2095500" y="403860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/developers/{id}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711BBC91-2755-436B-9A06-495F32AAA39C}"/>
              </a:ext>
            </a:extLst>
          </p:cNvPr>
          <p:cNvSpPr>
            <a:spLocks noGrp="1"/>
          </p:cNvSpPr>
          <p:nvPr/>
        </p:nvSpPr>
        <p:spPr>
          <a:xfrm>
            <a:off x="5286375" y="405765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Actualiza nombre, slug, imagen, contador o juegos.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EDEA961B-7B99-43D1-94B6-B27384150DE1}"/>
              </a:ext>
            </a:extLst>
          </p:cNvPr>
          <p:cNvSpPr>
            <a:spLocks noGrp="1"/>
          </p:cNvSpPr>
          <p:nvPr/>
        </p:nvSpPr>
        <p:spPr>
          <a:xfrm>
            <a:off x="857250" y="4743450"/>
            <a:ext cx="9620250" cy="5524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436BF90C-3279-4080-B4EB-25E754A46AE8}"/>
              </a:ext>
            </a:extLst>
          </p:cNvPr>
          <p:cNvSpPr>
            <a:spLocks noGrp="1"/>
          </p:cNvSpPr>
          <p:nvPr/>
        </p:nvSpPr>
        <p:spPr>
          <a:xfrm>
            <a:off x="1066800" y="4886325"/>
            <a:ext cx="742950" cy="266700"/>
          </a:xfrm>
          <a:prstGeom prst="rect">
            <a:avLst/>
          </a:prstGeom>
          <a:solidFill>
            <a:srgbClr val="FF5A7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71FC80A4-CF25-4098-B039-65036784C07A}"/>
              </a:ext>
            </a:extLst>
          </p:cNvPr>
          <p:cNvSpPr>
            <a:spLocks noGrp="1"/>
          </p:cNvSpPr>
          <p:nvPr/>
        </p:nvSpPr>
        <p:spPr>
          <a:xfrm>
            <a:off x="1066800" y="493395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DELETE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9C760FBA-B17C-4A17-B629-348A2A97CDA1}"/>
              </a:ext>
            </a:extLst>
          </p:cNvPr>
          <p:cNvSpPr>
            <a:spLocks noGrp="1"/>
          </p:cNvSpPr>
          <p:nvPr/>
        </p:nvSpPr>
        <p:spPr>
          <a:xfrm>
            <a:off x="2095500" y="48577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/developers/{id}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CEFCE321-8580-44EE-9CC9-B62CC6AA752B}"/>
              </a:ext>
            </a:extLst>
          </p:cNvPr>
          <p:cNvSpPr>
            <a:spLocks noGrp="1"/>
          </p:cNvSpPr>
          <p:nvPr/>
        </p:nvSpPr>
        <p:spPr>
          <a:xfrm>
            <a:off x="5286375" y="48768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Borra el desarrollador por ID.</a:t>
            </a:r>
          </a:p>
        </p:txBody>
      </p:sp>
    </p:spTree>
    <p:extLst>
      <p:ext uri="{BB962C8B-B14F-4D97-AF65-F5344CB8AC3E}">
        <p14:creationId xmlns:p14="http://schemas.microsoft.com/office/powerpoint/2010/main" val="228184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ángulo 62">
            <a:extLst>
              <a:ext uri="{FF2B5EF4-FFF2-40B4-BE49-F238E27FC236}">
                <a16:creationId xmlns:a16="http://schemas.microsoft.com/office/drawing/2014/main" id="{D580120F-7C40-4B08-A99F-93DCDEAA24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4F170AB-F8C0-4D72-8B4A-7D4FA5188E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F7F2AE1-76AD-4420-83AD-07990594A8B1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4559801-B367-479A-BEFE-9DBFEB733985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2D94A8D-9D79-4376-AB0C-6F77B0671101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8E0BA5A-C8DE-4F06-9FD2-A24403735A76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E0E9351-1664-4E76-BC34-2AADB357405B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0A8B202-BC59-421A-92B8-4289B2B2C573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6E15977-E604-4E6B-B38D-E283B1B07621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369F905-8216-4916-8F38-920D4811FC2D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090DD52-9147-4FFC-B061-0E6CF87C8E89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3EC9B35-3704-422B-8E60-E16F043D69CF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3D16273-E1A5-4FC3-BA74-F8B752193568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58E0AB3-AEFE-4C73-A955-8D29D200E71B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2D56022-BCF9-4555-B231-463816407124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80AFC5D-3EE8-4960-B887-C7CB68CA2FA2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9DC6C3A-C996-45D9-9D6A-B7339BB0D668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94FC4FA-C0A2-4AA9-924C-FE442ADD9EC9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BC6EA09-71F2-41F8-AA44-62DA486794B0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153F84D-9A1F-4D45-93C7-23D7A9A8D1FE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A40D671-4B79-407A-B940-D541653078F9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9755CB1-EF68-442D-944F-30089B8A1D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BDA045F-E671-4ACF-BF5B-A199E6479ACF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609C26F5-9C00-487B-9BCF-177067ECB6E1}"/>
              </a:ext>
            </a:extLst>
          </p:cNvPr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0173C80-1EF7-4EDB-8BDB-1F72A2F04F8C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8042E7F-4FA5-48E6-9C02-5579D942D7E3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8522C2EF-E938-4E9B-971D-F50DB73CF6FB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E42DA77-20AD-4EB0-834B-7C5F92472CE4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20BBD59-60E5-4A52-B70D-8D2A2300B9FC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345D5225-A252-43C7-8C70-D5D860AE6C10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37AB4D46-A945-4E65-87AF-D12E0436D509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9CAA2D7E-2F62-4849-A1DE-2A20D416CA33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98098F2-E5F2-4274-A284-3E22BE2AAFC0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A9B83C71-2CE5-4B42-9C98-20FA498CF0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6EC81908-78F7-4BB4-9F20-967536263DC2}"/>
              </a:ext>
            </a:extLst>
          </p:cNvPr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0EC78B5C-411E-43B5-AA62-FDEF1682F4AE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Interfaz REST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63B40890-DCAF-4C81-B456-DD3704A60CE7}"/>
              </a:ext>
            </a:extLst>
          </p:cNvPr>
          <p:cNvSpPr>
            <a:spLocks noGrp="1"/>
          </p:cNvSpPr>
          <p:nvPr/>
        </p:nvSpPr>
        <p:spPr>
          <a:xfrm>
            <a:off x="666750" y="695325"/>
            <a:ext cx="7048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/reviews es el recurso editable más directo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E99F709B-A928-480F-BAC7-2AC3919502AF}"/>
              </a:ext>
            </a:extLst>
          </p:cNvPr>
          <p:cNvSpPr>
            <a:spLocks noGrp="1"/>
          </p:cNvSpPr>
          <p:nvPr/>
        </p:nvSpPr>
        <p:spPr>
          <a:xfrm>
            <a:off x="857250" y="1466850"/>
            <a:ext cx="9620250" cy="5524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F9680F5-2C58-4331-A25A-B7E539C2B7FE}"/>
              </a:ext>
            </a:extLst>
          </p:cNvPr>
          <p:cNvSpPr>
            <a:spLocks noGrp="1"/>
          </p:cNvSpPr>
          <p:nvPr/>
        </p:nvSpPr>
        <p:spPr>
          <a:xfrm>
            <a:off x="1066800" y="1609725"/>
            <a:ext cx="742950" cy="266700"/>
          </a:xfrm>
          <a:prstGeom prst="rect">
            <a:avLst/>
          </a:prstGeom>
          <a:solidFill>
            <a:srgbClr val="3EE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AF19342C-23C7-4CE7-AD76-834E41F01201}"/>
              </a:ext>
            </a:extLst>
          </p:cNvPr>
          <p:cNvSpPr>
            <a:spLocks noGrp="1"/>
          </p:cNvSpPr>
          <p:nvPr/>
        </p:nvSpPr>
        <p:spPr>
          <a:xfrm>
            <a:off x="1066800" y="165735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7611F279-13DC-4B43-BDE7-B522DB6F2157}"/>
              </a:ext>
            </a:extLst>
          </p:cNvPr>
          <p:cNvSpPr>
            <a:spLocks noGrp="1"/>
          </p:cNvSpPr>
          <p:nvPr/>
        </p:nvSpPr>
        <p:spPr>
          <a:xfrm>
            <a:off x="2095500" y="15811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/reviews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4B5CB4B3-4EE4-402C-9D82-A93A93DB7831}"/>
              </a:ext>
            </a:extLst>
          </p:cNvPr>
          <p:cNvSpPr>
            <a:spLocks noGrp="1"/>
          </p:cNvSpPr>
          <p:nvPr/>
        </p:nvSpPr>
        <p:spPr>
          <a:xfrm>
            <a:off x="5286375" y="16002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Listado con id, rating, page y limit.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5EB7E9D4-A9C1-489C-85CE-F8EE4F32A4EF}"/>
              </a:ext>
            </a:extLst>
          </p:cNvPr>
          <p:cNvSpPr>
            <a:spLocks noGrp="1"/>
          </p:cNvSpPr>
          <p:nvPr/>
        </p:nvSpPr>
        <p:spPr>
          <a:xfrm>
            <a:off x="857250" y="2286000"/>
            <a:ext cx="9620250" cy="5524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07745AC1-5769-4F96-AD51-186D5D109CC5}"/>
              </a:ext>
            </a:extLst>
          </p:cNvPr>
          <p:cNvSpPr>
            <a:spLocks noGrp="1"/>
          </p:cNvSpPr>
          <p:nvPr/>
        </p:nvSpPr>
        <p:spPr>
          <a:xfrm>
            <a:off x="1066800" y="2428875"/>
            <a:ext cx="742950" cy="266700"/>
          </a:xfrm>
          <a:prstGeom prst="rect">
            <a:avLst/>
          </a:prstGeom>
          <a:solidFill>
            <a:srgbClr val="3EE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0045D1C8-74F0-441A-B854-FA6FE803E386}"/>
              </a:ext>
            </a:extLst>
          </p:cNvPr>
          <p:cNvSpPr>
            <a:spLocks noGrp="1"/>
          </p:cNvSpPr>
          <p:nvPr/>
        </p:nvSpPr>
        <p:spPr>
          <a:xfrm>
            <a:off x="1066800" y="24765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C344F195-83E8-4458-AD29-73A2C22DE5AC}"/>
              </a:ext>
            </a:extLst>
          </p:cNvPr>
          <p:cNvSpPr>
            <a:spLocks noGrp="1"/>
          </p:cNvSpPr>
          <p:nvPr/>
        </p:nvSpPr>
        <p:spPr>
          <a:xfrm>
            <a:off x="2095500" y="240030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/reviews/game/{gameId}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49843EB9-C505-44A2-812C-ADECFB086077}"/>
              </a:ext>
            </a:extLst>
          </p:cNvPr>
          <p:cNvSpPr>
            <a:spLocks noGrp="1"/>
          </p:cNvSpPr>
          <p:nvPr/>
        </p:nvSpPr>
        <p:spPr>
          <a:xfrm>
            <a:off x="5286375" y="241935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Reviews vinculadas a un videojuego.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60168354-50E0-4E19-9616-A0507406128C}"/>
              </a:ext>
            </a:extLst>
          </p:cNvPr>
          <p:cNvSpPr>
            <a:spLocks noGrp="1"/>
          </p:cNvSpPr>
          <p:nvPr/>
        </p:nvSpPr>
        <p:spPr>
          <a:xfrm>
            <a:off x="857250" y="3105150"/>
            <a:ext cx="9620250" cy="5524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CD09EB21-5B30-40A0-AAAB-ADDFCDD44D3A}"/>
              </a:ext>
            </a:extLst>
          </p:cNvPr>
          <p:cNvSpPr>
            <a:spLocks noGrp="1"/>
          </p:cNvSpPr>
          <p:nvPr/>
        </p:nvSpPr>
        <p:spPr>
          <a:xfrm>
            <a:off x="1066800" y="3248025"/>
            <a:ext cx="742950" cy="266700"/>
          </a:xfrm>
          <a:prstGeom prst="rect">
            <a:avLst/>
          </a:prstGeom>
          <a:solidFill>
            <a:srgbClr val="58F2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051E0404-37F7-4CC8-8DC6-F55291E0DB32}"/>
              </a:ext>
            </a:extLst>
          </p:cNvPr>
          <p:cNvSpPr>
            <a:spLocks noGrp="1"/>
          </p:cNvSpPr>
          <p:nvPr/>
        </p:nvSpPr>
        <p:spPr>
          <a:xfrm>
            <a:off x="1066800" y="329565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C03B07ED-CEB3-4D5F-86FB-2244379CD43C}"/>
              </a:ext>
            </a:extLst>
          </p:cNvPr>
          <p:cNvSpPr>
            <a:spLocks noGrp="1"/>
          </p:cNvSpPr>
          <p:nvPr/>
        </p:nvSpPr>
        <p:spPr>
          <a:xfrm>
            <a:off x="2095500" y="32194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/reviews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E6B8630B-E7AB-4641-8231-9A0EA90AD272}"/>
              </a:ext>
            </a:extLst>
          </p:cNvPr>
          <p:cNvSpPr>
            <a:spLocks noGrp="1"/>
          </p:cNvSpPr>
          <p:nvPr/>
        </p:nvSpPr>
        <p:spPr>
          <a:xfrm>
            <a:off x="5286375" y="32385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Crea una review para un juego que exista.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858BB1FE-B633-4C11-ACA0-D9CC7B940F66}"/>
              </a:ext>
            </a:extLst>
          </p:cNvPr>
          <p:cNvSpPr>
            <a:spLocks noGrp="1"/>
          </p:cNvSpPr>
          <p:nvPr/>
        </p:nvSpPr>
        <p:spPr>
          <a:xfrm>
            <a:off x="857250" y="3924300"/>
            <a:ext cx="9620250" cy="5524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3815CBD0-1E14-4391-9A5A-545B15335625}"/>
              </a:ext>
            </a:extLst>
          </p:cNvPr>
          <p:cNvSpPr>
            <a:spLocks noGrp="1"/>
          </p:cNvSpPr>
          <p:nvPr/>
        </p:nvSpPr>
        <p:spPr>
          <a:xfrm>
            <a:off x="1066800" y="4067175"/>
            <a:ext cx="742950" cy="2667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AD2C9ABA-D0EC-428E-A852-73782FD560C1}"/>
              </a:ext>
            </a:extLst>
          </p:cNvPr>
          <p:cNvSpPr>
            <a:spLocks noGrp="1"/>
          </p:cNvSpPr>
          <p:nvPr/>
        </p:nvSpPr>
        <p:spPr>
          <a:xfrm>
            <a:off x="1066800" y="41148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PATCH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BBD551B3-3EEA-4841-8E0E-12E7BDE1D9D5}"/>
              </a:ext>
            </a:extLst>
          </p:cNvPr>
          <p:cNvSpPr>
            <a:spLocks noGrp="1"/>
          </p:cNvSpPr>
          <p:nvPr/>
        </p:nvSpPr>
        <p:spPr>
          <a:xfrm>
            <a:off x="2095500" y="403860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/reviews/{id}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3CBB1BBE-FEF0-43B0-BA78-E4B922431773}"/>
              </a:ext>
            </a:extLst>
          </p:cNvPr>
          <p:cNvSpPr>
            <a:spLocks noGrp="1"/>
          </p:cNvSpPr>
          <p:nvPr/>
        </p:nvSpPr>
        <p:spPr>
          <a:xfrm>
            <a:off x="5286375" y="405765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Actualización parcial de rating, comentario, usuario o juego.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8324E8B8-9264-4EA4-97ED-6FB425A84B2D}"/>
              </a:ext>
            </a:extLst>
          </p:cNvPr>
          <p:cNvSpPr>
            <a:spLocks noGrp="1"/>
          </p:cNvSpPr>
          <p:nvPr/>
        </p:nvSpPr>
        <p:spPr>
          <a:xfrm>
            <a:off x="857250" y="4743450"/>
            <a:ext cx="9620250" cy="5524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D667C8FF-B561-4E60-98DB-16C52E8FE8B2}"/>
              </a:ext>
            </a:extLst>
          </p:cNvPr>
          <p:cNvSpPr>
            <a:spLocks noGrp="1"/>
          </p:cNvSpPr>
          <p:nvPr/>
        </p:nvSpPr>
        <p:spPr>
          <a:xfrm>
            <a:off x="1066800" y="4886325"/>
            <a:ext cx="742950" cy="266700"/>
          </a:xfrm>
          <a:prstGeom prst="rect">
            <a:avLst/>
          </a:prstGeom>
          <a:solidFill>
            <a:srgbClr val="FF5A7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2279119A-C798-431F-8968-915C004BDEE2}"/>
              </a:ext>
            </a:extLst>
          </p:cNvPr>
          <p:cNvSpPr>
            <a:spLocks noGrp="1"/>
          </p:cNvSpPr>
          <p:nvPr/>
        </p:nvSpPr>
        <p:spPr>
          <a:xfrm>
            <a:off x="1066800" y="493395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C0C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0C10"/>
                </a:solidFill>
                <a:latin typeface="Aptos"/>
                <a:ea typeface="Aptos"/>
                <a:cs typeface="Aptos"/>
              </a:rPr>
              <a:t>DELETE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85653AA7-7CE0-46C6-A7F4-4021EC12563B}"/>
              </a:ext>
            </a:extLst>
          </p:cNvPr>
          <p:cNvSpPr>
            <a:spLocks noGrp="1"/>
          </p:cNvSpPr>
          <p:nvPr/>
        </p:nvSpPr>
        <p:spPr>
          <a:xfrm>
            <a:off x="2095500" y="48577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/reviews/{id}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44CE97FF-20B0-4B27-86C0-076BD92D1ED9}"/>
              </a:ext>
            </a:extLst>
          </p:cNvPr>
          <p:cNvSpPr>
            <a:spLocks noGrp="1"/>
          </p:cNvSpPr>
          <p:nvPr/>
        </p:nvSpPr>
        <p:spPr>
          <a:xfrm>
            <a:off x="5286375" y="48768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Elimina la review indicada.</a:t>
            </a:r>
          </a:p>
        </p:txBody>
      </p:sp>
    </p:spTree>
    <p:extLst>
      <p:ext uri="{BB962C8B-B14F-4D97-AF65-F5344CB8AC3E}">
        <p14:creationId xmlns:p14="http://schemas.microsoft.com/office/powerpoint/2010/main" val="47449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ángulo 47">
            <a:extLst>
              <a:ext uri="{FF2B5EF4-FFF2-40B4-BE49-F238E27FC236}">
                <a16:creationId xmlns:a16="http://schemas.microsoft.com/office/drawing/2014/main" id="{9ACC835D-8909-44A4-A5C7-6384612725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9FEA996-1384-4A42-9C8B-884998573F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A39B1D4-68AD-43F4-9DC3-6C883CCA3D0B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08BA1F9-0364-43BD-8B6C-17715EFD29C1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AB71E7F-3F67-4D86-88AE-507A56341B5C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1819280-638B-4B21-AB82-3D8A95BB3C9D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C28FD6C-64E6-415E-9D69-5B68D5A8969A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66018D8-2F09-437E-98DC-17B03A4780BE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2E8A5D3-CF15-4B51-8DBA-1DEE2D0423A7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ADAF11B-A69B-40CA-92DD-92938B93F226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785273F-5DE2-4B09-9F9A-CF345AE12CF4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A05F365-6FCE-4CB9-81BD-FB60CAF71CDE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282BE19-C1B1-4953-8D47-889147105ECC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3F1004A-B84A-455D-8219-579A73A14789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E48F094-1DFE-477A-8BB9-9F5A28265336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197940F-3590-4FDF-8C6C-31276F6A4CF1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1EFE4FD-32B1-4781-9EDA-69D8F7AA30FA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4C3330F-EB9D-422F-9442-E6C3201CDC0E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ABC05FF-72BB-478D-AB9D-A2CBCC743649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5B5273A-33D5-449F-997E-B0DEA190E363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DFBA326-2251-4A8B-808C-DEF426C1C6B7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833B222-B95E-4B4F-BE4E-A47BA1BA25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FB1ECE8-FB03-408E-B684-ED0C2F0A9652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C04E267E-2EAC-40AE-AF6F-A4C817AA42DA}"/>
              </a:ext>
            </a:extLst>
          </p:cNvPr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B9643CB-5574-41BA-B1F9-8D1275F026B5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629F2D6-966E-4E25-BFBF-EBF5346C6FE7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3D09E25-4A8F-4DB8-BDE3-7619A597E0A1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D358720-3D16-414B-8424-526FB71395DE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860603C-CBAE-4B3E-8F92-30B64704C43A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7DA1ABC0-69C4-46E1-A035-D6003C933369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9BEA4A1-81D3-4C7C-8FB9-DF55D6699520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D5FDDCB0-AECE-43B4-BE33-0D49543ED36D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3957D47-C2D1-46A0-937E-4D9BC889EFF5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17170E7C-E4B7-49E5-8CA4-2C334E26EB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A77F16A3-DE56-4A89-9402-EF163C75EFBB}"/>
              </a:ext>
            </a:extLst>
          </p:cNvPr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06441740-DED9-44BD-9148-220018F40958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XML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2AB517F-8D02-438A-9D7A-FC58951B0B63}"/>
              </a:ext>
            </a:extLst>
          </p:cNvPr>
          <p:cNvSpPr>
            <a:spLocks noGrp="1"/>
          </p:cNvSpPr>
          <p:nvPr/>
        </p:nvSpPr>
        <p:spPr>
          <a:xfrm>
            <a:off x="666750" y="695325"/>
            <a:ext cx="7048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/countries cubre el requisito XML y se valida con XSD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C9E1E867-B3E5-4886-B6E3-21FDC1061E07}"/>
              </a:ext>
            </a:extLst>
          </p:cNvPr>
          <p:cNvSpPr>
            <a:spLocks noGrp="1"/>
          </p:cNvSpPr>
          <p:nvPr/>
        </p:nvSpPr>
        <p:spPr>
          <a:xfrm>
            <a:off x="714375" y="1476375"/>
            <a:ext cx="3905250" cy="3476625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DF40D473-8531-4D37-87C5-B5A69C573971}"/>
              </a:ext>
            </a:extLst>
          </p:cNvPr>
          <p:cNvSpPr>
            <a:spLocks noGrp="1"/>
          </p:cNvSpPr>
          <p:nvPr/>
        </p:nvSpPr>
        <p:spPr>
          <a:xfrm>
            <a:off x="952500" y="17335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GET /countries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58644884-CA15-4ABA-8F6F-D6E86B69CB28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Filtros disponibles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A261C748-6BEB-4E7D-8FD7-4FFAD9472279}"/>
              </a:ext>
            </a:extLst>
          </p:cNvPr>
          <p:cNvSpPr>
            <a:spLocks noGrp="1"/>
          </p:cNvSpPr>
          <p:nvPr/>
        </p:nvSpPr>
        <p:spPr>
          <a:xfrm>
            <a:off x="1123950" y="257175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3EE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EE7FF"/>
                </a:solidFill>
                <a:latin typeface="Aptos"/>
                <a:ea typeface="Aptos"/>
                <a:cs typeface="Aptos"/>
              </a:rPr>
              <a:t>country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BAAC38D0-7A90-464E-A17D-225F914798AC}"/>
              </a:ext>
            </a:extLst>
          </p:cNvPr>
          <p:cNvSpPr>
            <a:spLocks noGrp="1"/>
          </p:cNvSpPr>
          <p:nvPr/>
        </p:nvSpPr>
        <p:spPr>
          <a:xfrm>
            <a:off x="1123950" y="297180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3EE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EE7FF"/>
                </a:solidFill>
                <a:latin typeface="Aptos"/>
                <a:ea typeface="Aptos"/>
                <a:cs typeface="Aptos"/>
              </a:rPr>
              <a:t>developer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EF6EEE41-7C2D-4667-857C-8A2C369B6115}"/>
              </a:ext>
            </a:extLst>
          </p:cNvPr>
          <p:cNvSpPr>
            <a:spLocks noGrp="1"/>
          </p:cNvSpPr>
          <p:nvPr/>
        </p:nvSpPr>
        <p:spPr>
          <a:xfrm>
            <a:off x="1123950" y="337185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3EE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EE7FF"/>
                </a:solidFill>
                <a:latin typeface="Aptos"/>
                <a:ea typeface="Aptos"/>
                <a:cs typeface="Aptos"/>
              </a:rPr>
              <a:t>gameName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D0947259-E612-4977-BBAA-3C9EA6E97F4E}"/>
              </a:ext>
            </a:extLst>
          </p:cNvPr>
          <p:cNvSpPr>
            <a:spLocks noGrp="1"/>
          </p:cNvSpPr>
          <p:nvPr/>
        </p:nvSpPr>
        <p:spPr>
          <a:xfrm>
            <a:off x="952500" y="4143375"/>
            <a:ext cx="3238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También se expone desde GET /games/{id}/country para consultar los países de un videojuego concreto.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92C9E339-2CD6-4883-A4D0-82C035163C6B}"/>
              </a:ext>
            </a:extLst>
          </p:cNvPr>
          <p:cNvSpPr>
            <a:spLocks noGrp="1"/>
          </p:cNvSpPr>
          <p:nvPr/>
        </p:nvSpPr>
        <p:spPr>
          <a:xfrm>
            <a:off x="5286375" y="1476375"/>
            <a:ext cx="5334000" cy="3476625"/>
          </a:xfrm>
          <a:prstGeom prst="rect">
            <a:avLst/>
          </a:prstGeom>
          <a:solidFill>
            <a:srgbClr val="0B0B10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7C41352E-086D-4582-8D80-9CA9539B1432}"/>
              </a:ext>
            </a:extLst>
          </p:cNvPr>
          <p:cNvSpPr>
            <a:spLocks noGrp="1"/>
          </p:cNvSpPr>
          <p:nvPr/>
        </p:nvSpPr>
        <p:spPr>
          <a:xfrm>
            <a:off x="5572125" y="1762125"/>
            <a:ext cx="4762500" cy="2381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5F7"/>
                </a:solidFill>
                <a:latin typeface="Aptos Mono"/>
                <a:ea typeface="Aptos Mono"/>
                <a:cs typeface="Aptos Mono"/>
              </a:rPr>
              <a:t>&lt;countries&gt;</a:t>
            </a:r>
          </a:p>
          <a:p>
            <a:pPr algn="l">
              <a:defRPr sz="135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5F7"/>
                </a:solidFill>
                <a:latin typeface="Aptos Mono"/>
                <a:ea typeface="Aptos Mono"/>
                <a:cs typeface="Aptos Mono"/>
              </a:rPr>
              <a:t>  &lt;country&gt;</a:t>
            </a:r>
          </a:p>
          <a:p>
            <a:pPr algn="l">
              <a:defRPr sz="135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5F7"/>
                </a:solidFill>
                <a:latin typeface="Aptos Mono"/>
                <a:ea typeface="Aptos Mono"/>
                <a:cs typeface="Aptos Mono"/>
              </a:rPr>
              <a:t>    &lt;gameId&gt;3328&lt;/gameId&gt;</a:t>
            </a:r>
          </a:p>
          <a:p>
            <a:pPr algn="l">
              <a:defRPr sz="135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5F7"/>
                </a:solidFill>
                <a:latin typeface="Aptos Mono"/>
                <a:ea typeface="Aptos Mono"/>
                <a:cs typeface="Aptos Mono"/>
              </a:rPr>
              <a:t>    &lt;developer&gt;CD Projekt RED&lt;/developer&gt;</a:t>
            </a:r>
          </a:p>
          <a:p>
            <a:pPr algn="l">
              <a:defRPr sz="135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5F7"/>
                </a:solidFill>
                <a:latin typeface="Aptos Mono"/>
                <a:ea typeface="Aptos Mono"/>
                <a:cs typeface="Aptos Mono"/>
              </a:rPr>
              <a:t>    &lt;country&gt;Poland&lt;/country&gt;</a:t>
            </a:r>
          </a:p>
          <a:p>
            <a:pPr algn="l">
              <a:defRPr sz="135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5F7"/>
                </a:solidFill>
                <a:latin typeface="Aptos Mono"/>
                <a:ea typeface="Aptos Mono"/>
                <a:cs typeface="Aptos Mono"/>
              </a:rPr>
              <a:t>  &lt;/country&gt;</a:t>
            </a:r>
          </a:p>
          <a:p>
            <a:pPr algn="l">
              <a:defRPr sz="135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5F7"/>
                </a:solidFill>
                <a:latin typeface="Aptos Mono"/>
                <a:ea typeface="Aptos Mono"/>
                <a:cs typeface="Aptos Mono"/>
              </a:rPr>
              <a:t>&lt;/countries&gt;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5CE168E9-0C4E-46E9-B559-2669C89B15B9}"/>
              </a:ext>
            </a:extLst>
          </p:cNvPr>
          <p:cNvSpPr>
            <a:spLocks noGrp="1"/>
          </p:cNvSpPr>
          <p:nvPr/>
        </p:nvSpPr>
        <p:spPr>
          <a:xfrm>
            <a:off x="5572125" y="4429125"/>
            <a:ext cx="447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Mismo contrato XML para /games/{id}/country</a:t>
            </a:r>
          </a:p>
        </p:txBody>
      </p:sp>
    </p:spTree>
    <p:extLst>
      <p:ext uri="{BB962C8B-B14F-4D97-AF65-F5344CB8AC3E}">
        <p14:creationId xmlns:p14="http://schemas.microsoft.com/office/powerpoint/2010/main" val="25482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ángulo 53">
            <a:extLst>
              <a:ext uri="{FF2B5EF4-FFF2-40B4-BE49-F238E27FC236}">
                <a16:creationId xmlns:a16="http://schemas.microsoft.com/office/drawing/2014/main" id="{DD865FC7-4C3C-46B9-B3ED-7A0EC1771E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CB372BA-9A74-4028-9382-C10FC9D21B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2966593-3BE8-4CCF-97AA-1FBABC4D8C6A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A5CC76A-1B76-4152-86CF-4D4831123DCB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2ACA0CD-704E-4E8D-9DCC-53D53038ED74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85B1DE0-F59D-4337-BB22-F0FAFC529A1F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7EFF145-8910-48A1-B7BA-85B0C4B0751C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868039F-982E-4691-8F27-79B8039AE33A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E475A2A-FF27-46E2-B3D3-2910466578C7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9A41935-0723-4493-BBBC-61B3823EC2D8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CEB8859-C8E7-4BEA-BFE0-E6F385F9F0EA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414D6D0-8337-477C-8C39-DF9AAEFA79C5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5D7597D-7657-4E15-B1D2-7B0501F5DA3F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526711F-0A75-44A1-BCBF-052A0F592DF1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DFA5EFD-BC14-4FBA-A618-5CF3527520FA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FFB10AF-FB94-4B5B-A479-F5BF1F1F20D2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598E9D1-B3D0-4C79-A294-ABBE1B413A9C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46DF1F9-A4BD-4E2E-A52D-E778CC95B48A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45862F6-4739-4387-B89D-E75EE96C3148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AB34D8B-8D6A-4A70-A6E7-66630DE0B863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35C33BD-8D04-43B8-AFFF-5892D82227EC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DA5E981-C2E6-4963-98EB-732D07E0AA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66320BF-FD5C-4F68-93F2-BBE573A7C117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56DA61FC-3238-4DBA-B614-453E83E819EA}"/>
              </a:ext>
            </a:extLst>
          </p:cNvPr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59A5D8D7-8927-4B5F-AB12-21256DC6DDC2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083AFCD-92D9-4655-9E50-6BEECC87324A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6D45306-E262-4729-9D0C-FD2569EBCC74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4FBA76C-9089-4E84-81B1-9DDBA8AE1CB7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40F5E20-31B3-49A0-91C5-83CE9365E82A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B7DB17F-44DD-4A1F-BB13-BC1C6CAE865B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1A1A9C9-6A57-4696-AEDD-43D9042AA372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3A528AB-5614-46C2-9CE9-51E4988CA00B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9AB2337-FF03-4752-A0E4-DDA0298E91DC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7214BC2-877A-40EC-9D77-88A552DA6A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29F17797-C877-48A1-B9F2-EB2700605C6B}"/>
              </a:ext>
            </a:extLst>
          </p:cNvPr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302F4A4E-45FF-422D-A871-114BDFC0766F}"/>
              </a:ext>
            </a:extLst>
          </p:cNvPr>
          <p:cNvSpPr>
            <a:spLocks noGrp="1"/>
          </p:cNvSpPr>
          <p:nvPr/>
        </p:nvSpPr>
        <p:spPr>
          <a:xfrm>
            <a:off x="683695" y="483007"/>
            <a:ext cx="9152527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255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Campos </a:t>
            </a:r>
            <a:r>
              <a:rPr sz="255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obligatorios</a:t>
            </a:r>
            <a:r>
              <a:rPr sz="255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 y </a:t>
            </a:r>
            <a:r>
              <a:rPr sz="255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rangos</a:t>
            </a:r>
            <a:r>
              <a:rPr sz="255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 </a:t>
            </a:r>
            <a:r>
              <a:rPr sz="255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que</a:t>
            </a:r>
            <a:r>
              <a:rPr sz="255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 la API </a:t>
            </a:r>
            <a:r>
              <a:rPr sz="255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comprueba</a:t>
            </a:r>
            <a:endParaRPr sz="2550" b="1" dirty="0">
              <a:solidFill>
                <a:srgbClr val="F5F5F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DB7EDC58-836F-42BC-9BC7-F8C98B4B8F4B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9620250" cy="6286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0371F183-B103-43CD-91A0-118726B9ECC2}"/>
              </a:ext>
            </a:extLst>
          </p:cNvPr>
          <p:cNvSpPr>
            <a:spLocks noGrp="1"/>
          </p:cNvSpPr>
          <p:nvPr/>
        </p:nvSpPr>
        <p:spPr>
          <a:xfrm>
            <a:off x="1047750" y="1638300"/>
            <a:ext cx="1762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GameInput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73494070-A593-4477-A2C4-283C482FAB0B}"/>
              </a:ext>
            </a:extLst>
          </p:cNvPr>
          <p:cNvSpPr>
            <a:spLocks noGrp="1"/>
          </p:cNvSpPr>
          <p:nvPr/>
        </p:nvSpPr>
        <p:spPr>
          <a:xfrm>
            <a:off x="3048000" y="16002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id, name, platforms, genres, stores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6AEC7DF7-4F2D-4258-9EF3-9F00C1651E90}"/>
              </a:ext>
            </a:extLst>
          </p:cNvPr>
          <p:cNvSpPr>
            <a:spLocks noGrp="1"/>
          </p:cNvSpPr>
          <p:nvPr/>
        </p:nvSpPr>
        <p:spPr>
          <a:xfrm>
            <a:off x="7239000" y="1609725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rating 0-5, metacritic 0-100, arrays no vacíos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5D150624-BB0F-4089-9199-1FA947A2797E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9620250" cy="6286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07205C4C-D196-403E-B7D5-DD952539AEBC}"/>
              </a:ext>
            </a:extLst>
          </p:cNvPr>
          <p:cNvSpPr>
            <a:spLocks noGrp="1"/>
          </p:cNvSpPr>
          <p:nvPr/>
        </p:nvSpPr>
        <p:spPr>
          <a:xfrm>
            <a:off x="1047750" y="2571750"/>
            <a:ext cx="1762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EE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EE7FF"/>
                </a:solidFill>
                <a:latin typeface="Aptos"/>
                <a:ea typeface="Aptos"/>
                <a:cs typeface="Aptos"/>
              </a:rPr>
              <a:t>DeveloperInput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D1348874-B7CB-4878-8960-66D7914D6931}"/>
              </a:ext>
            </a:extLst>
          </p:cNvPr>
          <p:cNvSpPr>
            <a:spLocks noGrp="1"/>
          </p:cNvSpPr>
          <p:nvPr/>
        </p:nvSpPr>
        <p:spPr>
          <a:xfrm>
            <a:off x="3048000" y="253365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id, name, slug, games[]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B71D80A9-6F9B-4E02-8852-8BB8DAB2A3DE}"/>
              </a:ext>
            </a:extLst>
          </p:cNvPr>
          <p:cNvSpPr>
            <a:spLocks noGrp="1"/>
          </p:cNvSpPr>
          <p:nvPr/>
        </p:nvSpPr>
        <p:spPr>
          <a:xfrm>
            <a:off x="7239000" y="2543175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cada game necesita id y name; el juego debe existir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7566F444-7B8A-466B-8E5D-F782410D9D7D}"/>
              </a:ext>
            </a:extLst>
          </p:cNvPr>
          <p:cNvSpPr>
            <a:spLocks noGrp="1"/>
          </p:cNvSpPr>
          <p:nvPr/>
        </p:nvSpPr>
        <p:spPr>
          <a:xfrm>
            <a:off x="809625" y="3343275"/>
            <a:ext cx="9620250" cy="6286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708292B1-06FB-4665-84C4-6927B6B1E56F}"/>
              </a:ext>
            </a:extLst>
          </p:cNvPr>
          <p:cNvSpPr>
            <a:spLocks noGrp="1"/>
          </p:cNvSpPr>
          <p:nvPr/>
        </p:nvSpPr>
        <p:spPr>
          <a:xfrm>
            <a:off x="1047750" y="3505200"/>
            <a:ext cx="1762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EE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EE7FF"/>
                </a:solidFill>
                <a:latin typeface="Aptos"/>
                <a:ea typeface="Aptos"/>
                <a:cs typeface="Aptos"/>
              </a:rPr>
              <a:t>ReviewInput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13745E92-1D58-4A15-8CED-80E8666DBDC9}"/>
              </a:ext>
            </a:extLst>
          </p:cNvPr>
          <p:cNvSpPr>
            <a:spLocks noGrp="1"/>
          </p:cNvSpPr>
          <p:nvPr/>
        </p:nvSpPr>
        <p:spPr>
          <a:xfrm>
            <a:off x="3048000" y="34671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id, gameId, gameName, rating, comment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048A854D-9BA3-49A6-8EC0-4206B9D6491F}"/>
              </a:ext>
            </a:extLst>
          </p:cNvPr>
          <p:cNvSpPr>
            <a:spLocks noGrp="1"/>
          </p:cNvSpPr>
          <p:nvPr/>
        </p:nvSpPr>
        <p:spPr>
          <a:xfrm>
            <a:off x="7239000" y="3476625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rating 1-5; gameName debe coincidir con gameId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0A07F0AE-DE35-44BE-B923-F0F345F5D7EE}"/>
              </a:ext>
            </a:extLst>
          </p:cNvPr>
          <p:cNvSpPr>
            <a:spLocks noGrp="1"/>
          </p:cNvSpPr>
          <p:nvPr/>
        </p:nvSpPr>
        <p:spPr>
          <a:xfrm>
            <a:off x="809625" y="4276725"/>
            <a:ext cx="9620250" cy="6286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616F935E-A682-4BE4-90FB-C000CE090B17}"/>
              </a:ext>
            </a:extLst>
          </p:cNvPr>
          <p:cNvSpPr>
            <a:spLocks noGrp="1"/>
          </p:cNvSpPr>
          <p:nvPr/>
        </p:nvSpPr>
        <p:spPr>
          <a:xfrm>
            <a:off x="1047750" y="4438650"/>
            <a:ext cx="1762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EE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EE7FF"/>
                </a:solidFill>
                <a:latin typeface="Aptos"/>
                <a:ea typeface="Aptos"/>
                <a:cs typeface="Aptos"/>
              </a:rPr>
              <a:t>Country XML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5681A201-CC11-4355-99C8-E3CC1A83B96E}"/>
              </a:ext>
            </a:extLst>
          </p:cNvPr>
          <p:cNvSpPr>
            <a:spLocks noGrp="1"/>
          </p:cNvSpPr>
          <p:nvPr/>
        </p:nvSpPr>
        <p:spPr>
          <a:xfrm>
            <a:off x="3048000" y="440055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gameId, gameName, developer, country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05A1BC68-C3AE-489B-8BD7-F87EEF04C9C5}"/>
              </a:ext>
            </a:extLst>
          </p:cNvPr>
          <p:cNvSpPr>
            <a:spLocks noGrp="1"/>
          </p:cNvSpPr>
          <p:nvPr/>
        </p:nvSpPr>
        <p:spPr>
          <a:xfrm>
            <a:off x="7239000" y="4410075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8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8B8C8"/>
                </a:solidFill>
                <a:latin typeface="Aptos"/>
                <a:ea typeface="Aptos"/>
                <a:cs typeface="Aptos"/>
              </a:rPr>
              <a:t>estructura definida en countries.xsd</a:t>
            </a:r>
          </a:p>
        </p:txBody>
      </p:sp>
    </p:spTree>
    <p:extLst>
      <p:ext uri="{BB962C8B-B14F-4D97-AF65-F5344CB8AC3E}">
        <p14:creationId xmlns:p14="http://schemas.microsoft.com/office/powerpoint/2010/main" val="389941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ángulo 50">
            <a:extLst>
              <a:ext uri="{FF2B5EF4-FFF2-40B4-BE49-F238E27FC236}">
                <a16:creationId xmlns:a16="http://schemas.microsoft.com/office/drawing/2014/main" id="{356EBC82-6F35-426C-B9DF-0E84414D0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EBCA746-ED44-47E4-A021-733545999A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DC5CE54-8E08-476D-9843-EA8A1C5676A7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DBD9A9C-BA18-4663-B4B2-0C649D41EB80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C7A1E03-A2D5-43D3-B646-1197ABC36FBF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08CD686-F177-4ADF-A28C-79198757E495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A93A633-1B3A-430B-BF07-BC4B3752A9A3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F8FC389-7E1D-4AC0-88EC-BCF8C0E00831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9A56846-6E57-4254-AE3E-DCFBF603FD77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2429B8C-713A-4F63-A896-C58D9C494594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78B3E60-EDFB-4368-9B00-E61F4D58E9EB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3D95B3E-1101-433D-82EF-E54EE7F74B0B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3DE5536-9A81-4EBE-A4E4-2A7D360EFDC3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A392DDF-8AB9-4B9B-867C-9EE18E076584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4DF097F-CB3E-4C64-9C57-B016516EE676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A14A02D-AE00-46A8-9F40-0E6EDBBBC9CB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F688A34-218D-4EB9-89EF-8F4AA619A3B4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FAEBB8F-E32E-46B8-A5BD-992BDD68FCC7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92454C5-C95C-4671-9C3C-C1B0CAE0BE5D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C686CF9-C63B-4763-A25A-8A951EE3C5D9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4514015-D034-47AE-8011-C677E7204866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25E7752-EA02-4D7C-925B-BAF9A8BDD9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3F8F4FA-5689-441D-B01E-BFCF6D2D83D5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186B599-02C5-42F1-B73D-036E718580E5}"/>
              </a:ext>
            </a:extLst>
          </p:cNvPr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41854CA-7AC7-44B7-A4B7-5A746CE0617A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94D4256-1B8A-4DA5-A18D-50D51FD03503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D22C1DB-8F51-4B75-85E7-5E84AFE92878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0074BC2-A3A6-4387-9EC7-280D062ABA18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0CD4D36-3174-4F5E-8132-3CAC7ED63EEE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E908DAB-C625-492B-BDD1-354E95A08AC1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811E5C3-8126-46B4-95CB-CE57D4C53A11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54A748C2-51C2-49FA-9D30-6FE7E7CD28CD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1A4C902-9183-4FE8-816C-4B4A1A71D791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238587D-BA3C-46B6-ACB2-DF0A23FF90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BDD61871-A2C8-40FA-BCA0-3789201D4A01}"/>
              </a:ext>
            </a:extLst>
          </p:cNvPr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C7040F03-E5CC-4875-827F-6413B07A1AB3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Robustez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9772F43-9FA3-4C51-B103-FDAF9BA98C57}"/>
              </a:ext>
            </a:extLst>
          </p:cNvPr>
          <p:cNvSpPr>
            <a:spLocks noGrp="1"/>
          </p:cNvSpPr>
          <p:nvPr/>
        </p:nvSpPr>
        <p:spPr>
          <a:xfrm>
            <a:off x="666750" y="695325"/>
            <a:ext cx="7048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La API no acepta datos que rompen relaciones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5DA089C0-3120-4D57-AB4F-C5AD631F216C}"/>
              </a:ext>
            </a:extLst>
          </p:cNvPr>
          <p:cNvSpPr>
            <a:spLocks noGrp="1"/>
          </p:cNvSpPr>
          <p:nvPr/>
        </p:nvSpPr>
        <p:spPr>
          <a:xfrm>
            <a:off x="857250" y="1619250"/>
            <a:ext cx="2095500" cy="20002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FB4E8443-A755-4BBA-8D19-28E80D7A01A6}"/>
              </a:ext>
            </a:extLst>
          </p:cNvPr>
          <p:cNvSpPr>
            <a:spLocks noGrp="1"/>
          </p:cNvSpPr>
          <p:nvPr/>
        </p:nvSpPr>
        <p:spPr>
          <a:xfrm>
            <a:off x="1066800" y="1952625"/>
            <a:ext cx="1619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400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BD54488D-955E-462D-AC7D-F3C594B364FD}"/>
              </a:ext>
            </a:extLst>
          </p:cNvPr>
          <p:cNvSpPr>
            <a:spLocks noGrp="1"/>
          </p:cNvSpPr>
          <p:nvPr/>
        </p:nvSpPr>
        <p:spPr>
          <a:xfrm>
            <a:off x="1066800" y="2619375"/>
            <a:ext cx="1571625" cy="619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parámetros inválidos, campos no permitidos, tipos incorrectos o arrays vacíos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5151C0C1-742E-48C8-872B-34F850F671D5}"/>
              </a:ext>
            </a:extLst>
          </p:cNvPr>
          <p:cNvSpPr>
            <a:spLocks noGrp="1"/>
          </p:cNvSpPr>
          <p:nvPr/>
        </p:nvSpPr>
        <p:spPr>
          <a:xfrm>
            <a:off x="3333750" y="1619250"/>
            <a:ext cx="2095500" cy="20002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860F9692-3953-40FF-A0B5-1BAC72CCB5E9}"/>
              </a:ext>
            </a:extLst>
          </p:cNvPr>
          <p:cNvSpPr>
            <a:spLocks noGrp="1"/>
          </p:cNvSpPr>
          <p:nvPr/>
        </p:nvSpPr>
        <p:spPr>
          <a:xfrm>
            <a:off x="3543300" y="1952625"/>
            <a:ext cx="1619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404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396EBB7D-4419-459C-B942-2F85D2606D95}"/>
              </a:ext>
            </a:extLst>
          </p:cNvPr>
          <p:cNvSpPr>
            <a:spLocks noGrp="1"/>
          </p:cNvSpPr>
          <p:nvPr/>
        </p:nvSpPr>
        <p:spPr>
          <a:xfrm>
            <a:off x="3543300" y="2619375"/>
            <a:ext cx="1571625" cy="619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ID válido pero recurso inexistente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3D75F8FD-2BF3-427E-ABA9-B59712BC5E4B}"/>
              </a:ext>
            </a:extLst>
          </p:cNvPr>
          <p:cNvSpPr>
            <a:spLocks noGrp="1"/>
          </p:cNvSpPr>
          <p:nvPr/>
        </p:nvSpPr>
        <p:spPr>
          <a:xfrm>
            <a:off x="5810250" y="1619250"/>
            <a:ext cx="2095500" cy="20002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BF6028B8-28B6-43EB-8642-3A92D787BFA6}"/>
              </a:ext>
            </a:extLst>
          </p:cNvPr>
          <p:cNvSpPr>
            <a:spLocks noGrp="1"/>
          </p:cNvSpPr>
          <p:nvPr/>
        </p:nvSpPr>
        <p:spPr>
          <a:xfrm>
            <a:off x="6019800" y="1952625"/>
            <a:ext cx="1619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F5A7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5A74"/>
                </a:solidFill>
                <a:latin typeface="Aptos"/>
                <a:ea typeface="Aptos"/>
                <a:cs typeface="Aptos"/>
              </a:rPr>
              <a:t>409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634E3B17-ED45-4F7A-B190-392062545C15}"/>
              </a:ext>
            </a:extLst>
          </p:cNvPr>
          <p:cNvSpPr>
            <a:spLocks noGrp="1"/>
          </p:cNvSpPr>
          <p:nvPr/>
        </p:nvSpPr>
        <p:spPr>
          <a:xfrm>
            <a:off x="6019800" y="2619375"/>
            <a:ext cx="1571625" cy="619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duplicados o cambios que romperían recursos relacionados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3F186BD2-8B41-4474-A6C1-82E6FB619ED6}"/>
              </a:ext>
            </a:extLst>
          </p:cNvPr>
          <p:cNvSpPr>
            <a:spLocks noGrp="1"/>
          </p:cNvSpPr>
          <p:nvPr/>
        </p:nvSpPr>
        <p:spPr>
          <a:xfrm>
            <a:off x="8286750" y="1619250"/>
            <a:ext cx="2095500" cy="20002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4DE81A9F-C144-423D-800D-180CD7BE5F07}"/>
              </a:ext>
            </a:extLst>
          </p:cNvPr>
          <p:cNvSpPr>
            <a:spLocks noGrp="1"/>
          </p:cNvSpPr>
          <p:nvPr/>
        </p:nvSpPr>
        <p:spPr>
          <a:xfrm>
            <a:off x="8496300" y="1952625"/>
            <a:ext cx="1619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_id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3771C3E5-8AF1-4726-893F-14CAF304FE62}"/>
              </a:ext>
            </a:extLst>
          </p:cNvPr>
          <p:cNvSpPr>
            <a:spLocks noGrp="1"/>
          </p:cNvSpPr>
          <p:nvPr/>
        </p:nvSpPr>
        <p:spPr>
          <a:xfrm>
            <a:off x="8496300" y="2619375"/>
            <a:ext cx="1571625" cy="619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el identificador interno de MongoDB se elimina de las respuestas</a:t>
            </a:r>
          </a:p>
        </p:txBody>
      </p:sp>
    </p:spTree>
    <p:extLst>
      <p:ext uri="{BB962C8B-B14F-4D97-AF65-F5344CB8AC3E}">
        <p14:creationId xmlns:p14="http://schemas.microsoft.com/office/powerpoint/2010/main" val="1791599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ángulo 50">
            <a:extLst>
              <a:ext uri="{FF2B5EF4-FFF2-40B4-BE49-F238E27FC236}">
                <a16:creationId xmlns:a16="http://schemas.microsoft.com/office/drawing/2014/main" id="{FEB600A3-2399-48B0-9AC5-466C3A8951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9292E33-D564-40A3-B668-26D225382B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635EE2A-FDD5-42CB-85BC-11432588F200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C1FCDA3-2278-4DFE-B3D9-503E439DFB63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C2E3361-897A-4A61-A735-6F5D5916C874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08ABC05-FAEC-486D-AD76-89B21B485088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B8E5394-2BFB-4849-B81F-8441681FE970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3DEBA86-903D-4DF1-91EF-40D694C2027F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8DBB08F-45C5-4309-AEE3-0523F55C5647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E0995E8-FC11-4BA7-9F25-7A93A7B54076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0BA1CCE-3E51-450A-B05D-70F21B70C4BE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3B91012-235F-4375-8EA7-32252F83D134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88B8050-4D76-4DAC-BD41-574D94997697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9EA4814-396D-46EB-9643-44B6844584C1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6B116EA-F2E1-4D2E-8D6C-44BE31FA05DD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1123F73-F15E-405D-B821-C44DA2904E3F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6282A13-A34A-466E-B455-568687542860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3D0D3C4-72F3-4B6A-B30D-1BB4465E2456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7EBD68E-0E17-4D2A-893F-A52F7030B71F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2C44ED1-B265-4377-BEA7-279BF2146B10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615E7E4-020E-40B2-B3C8-71F75AEE75EF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22C205D-C3C1-4B6F-893F-5B2BFF1C18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501074E-10C8-474E-B9F1-C10A47B3493F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156E961-F26D-4388-8633-9DD96B56523E}"/>
              </a:ext>
            </a:extLst>
          </p:cNvPr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5F8CC2E5-24C2-45BD-8F9A-3E2A147A6C85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034FDBD-ACEF-4535-B2DD-310FCA890454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38C8FF5-D9A3-4836-B0B3-CAE1FDC488A5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11404F2-8B71-49F6-BEF6-FD6BBF129027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E656CD6-4BA1-4BFB-A3D3-86746A2D1655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F3D66BEB-94B9-4072-9F51-F0D334C03338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9F59241-7F9F-4014-A42D-DB9B8740DE5C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48467D9C-2013-4DD4-9CE6-49CA4FE7276B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1BCCF81-9FB6-47A6-BEA6-177EF7525689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7F09C46F-3F2A-4A97-A928-3C5FBAC40B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D9C837A4-E361-4162-97BC-C04959CEADD6}"/>
              </a:ext>
            </a:extLst>
          </p:cNvPr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4D7A81F-C6E3-4A19-B549-CE3725976B61}"/>
              </a:ext>
            </a:extLst>
          </p:cNvPr>
          <p:cNvSpPr>
            <a:spLocks noGrp="1"/>
          </p:cNvSpPr>
          <p:nvPr/>
        </p:nvSpPr>
        <p:spPr>
          <a:xfrm>
            <a:off x="666750" y="695325"/>
            <a:ext cx="7048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OpenAPI convierte las rutas en un contrato comprobable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6C2A6F3A-F103-4D9B-B0DE-19313FA78478}"/>
              </a:ext>
            </a:extLst>
          </p:cNvPr>
          <p:cNvSpPr>
            <a:spLocks noGrp="1"/>
          </p:cNvSpPr>
          <p:nvPr/>
        </p:nvSpPr>
        <p:spPr>
          <a:xfrm>
            <a:off x="847725" y="2347912"/>
            <a:ext cx="4476750" cy="1000125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85933BAE-8827-4A56-A6B2-3AC48BDCE52D}"/>
              </a:ext>
            </a:extLst>
          </p:cNvPr>
          <p:cNvSpPr>
            <a:spLocks noGrp="1"/>
          </p:cNvSpPr>
          <p:nvPr/>
        </p:nvSpPr>
        <p:spPr>
          <a:xfrm>
            <a:off x="1076325" y="2557462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Paths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6F93FAF5-23C1-46FC-89B6-82198E1EDA35}"/>
              </a:ext>
            </a:extLst>
          </p:cNvPr>
          <p:cNvSpPr>
            <a:spLocks noGrp="1"/>
          </p:cNvSpPr>
          <p:nvPr/>
        </p:nvSpPr>
        <p:spPr>
          <a:xfrm>
            <a:off x="2705100" y="2576512"/>
            <a:ext cx="22383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incluye home, games, developers, reviews y countries.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4125C8DA-9833-4900-8612-AA631EDD078E}"/>
              </a:ext>
            </a:extLst>
          </p:cNvPr>
          <p:cNvSpPr>
            <a:spLocks noGrp="1"/>
          </p:cNvSpPr>
          <p:nvPr/>
        </p:nvSpPr>
        <p:spPr>
          <a:xfrm>
            <a:off x="5895975" y="2347912"/>
            <a:ext cx="4476750" cy="1000125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77101269-6412-46C6-9279-B600F966C772}"/>
              </a:ext>
            </a:extLst>
          </p:cNvPr>
          <p:cNvSpPr>
            <a:spLocks noGrp="1"/>
          </p:cNvSpPr>
          <p:nvPr/>
        </p:nvSpPr>
        <p:spPr>
          <a:xfrm>
            <a:off x="6124575" y="2557462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Parameters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76F9EB54-D399-48C3-8F2A-0B87C2D69831}"/>
              </a:ext>
            </a:extLst>
          </p:cNvPr>
          <p:cNvSpPr>
            <a:spLocks noGrp="1"/>
          </p:cNvSpPr>
          <p:nvPr/>
        </p:nvSpPr>
        <p:spPr>
          <a:xfrm>
            <a:off x="7753350" y="2576512"/>
            <a:ext cx="22383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documenta query params como search, sort, page, limit, rating o gameId.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79E895EC-0C8A-42C1-BAF2-813635397864}"/>
              </a:ext>
            </a:extLst>
          </p:cNvPr>
          <p:cNvSpPr>
            <a:spLocks noGrp="1"/>
          </p:cNvSpPr>
          <p:nvPr/>
        </p:nvSpPr>
        <p:spPr>
          <a:xfrm>
            <a:off x="847725" y="3776662"/>
            <a:ext cx="4476750" cy="1000125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DA06E738-D899-48E3-9B4A-E8C66EC8979A}"/>
              </a:ext>
            </a:extLst>
          </p:cNvPr>
          <p:cNvSpPr>
            <a:spLocks noGrp="1"/>
          </p:cNvSpPr>
          <p:nvPr/>
        </p:nvSpPr>
        <p:spPr>
          <a:xfrm>
            <a:off x="1076325" y="3986212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Schemas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655E6727-5EE0-416E-A728-D23300A8D5A3}"/>
              </a:ext>
            </a:extLst>
          </p:cNvPr>
          <p:cNvSpPr>
            <a:spLocks noGrp="1"/>
          </p:cNvSpPr>
          <p:nvPr/>
        </p:nvSpPr>
        <p:spPr>
          <a:xfrm>
            <a:off x="2705100" y="4005262"/>
            <a:ext cx="22383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define Game, Developer, Review, Country y respuestas de listado.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9067E95B-184F-4CD7-9071-F92FE453D642}"/>
              </a:ext>
            </a:extLst>
          </p:cNvPr>
          <p:cNvSpPr>
            <a:spLocks noGrp="1"/>
          </p:cNvSpPr>
          <p:nvPr/>
        </p:nvSpPr>
        <p:spPr>
          <a:xfrm>
            <a:off x="5895975" y="3776662"/>
            <a:ext cx="4476750" cy="1000125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0F5CC9ED-7885-4E3E-95DA-C09D13593A0B}"/>
              </a:ext>
            </a:extLst>
          </p:cNvPr>
          <p:cNvSpPr>
            <a:spLocks noGrp="1"/>
          </p:cNvSpPr>
          <p:nvPr/>
        </p:nvSpPr>
        <p:spPr>
          <a:xfrm>
            <a:off x="6124575" y="3986212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Responses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8CC39717-8C94-414F-A197-24E1D39AA96F}"/>
              </a:ext>
            </a:extLst>
          </p:cNvPr>
          <p:cNvSpPr>
            <a:spLocks noGrp="1"/>
          </p:cNvSpPr>
          <p:nvPr/>
        </p:nvSpPr>
        <p:spPr>
          <a:xfrm>
            <a:off x="7753350" y="4005262"/>
            <a:ext cx="22383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normaliza 200, 201, 400, 404, 409 y 500.</a:t>
            </a:r>
          </a:p>
        </p:txBody>
      </p:sp>
    </p:spTree>
    <p:extLst>
      <p:ext uri="{BB962C8B-B14F-4D97-AF65-F5344CB8AC3E}">
        <p14:creationId xmlns:p14="http://schemas.microsoft.com/office/powerpoint/2010/main" val="1624288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ángulo 51">
            <a:extLst>
              <a:ext uri="{FF2B5EF4-FFF2-40B4-BE49-F238E27FC236}">
                <a16:creationId xmlns:a16="http://schemas.microsoft.com/office/drawing/2014/main" id="{0720832B-490D-4C6D-A120-6168E93B5A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AEDB9E-BF92-46D9-89B7-1004399683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B1B4A6B-210C-471D-AB12-AE386164BD6A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7CBF76A-6C74-4BE9-9F40-1BE9627D0BAC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8D40B0C-7A69-4934-8B37-5D50FA44D8D1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21AD5BD-E86E-47E9-997B-9E1F14C06738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49F2BF3-CE9A-422C-B81C-5C273B16E728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DF2BB8D-4408-4A2D-885F-7C51B389455B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436F497-8B24-40C1-A468-BA154B1A8BC0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C7FA231-348A-47AF-9B7A-ADBFBEF4ED4E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7E0FE52-9A03-4B8D-B97B-F7077D13CA6E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B32E3B9-A941-4133-AE99-17C53BB2B1AC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B8FB9B0-DBD8-42D7-B34A-BF1E3BDD1433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3B8042A-E679-4872-8196-6F00B0C1F7F0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44BD75F-7C56-47DB-8998-E7A28386A93B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7CB8FAD-B70C-45A8-B89C-27B72934267C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77BD09F-ECC5-4A06-88DE-5C6AA0CB5B9C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1373B8A-036C-4C21-9222-BAA3820A1E88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09C8855-E0FF-4CAC-8AF1-2784CF660252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9ADAB71-9BD5-4048-B812-77606362D642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09D5526-B6B3-413B-B483-20AC8AD9A962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13222F8-C489-4FCE-9711-DC2A330A85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5916E9A-6700-48D4-B8BA-270B59B12C21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148C14A-83C2-4D8D-88B9-FA6802C483B8}"/>
              </a:ext>
            </a:extLst>
          </p:cNvPr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EA92E9B-5364-4AC2-99D1-C0F506546C17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3DFDA4BE-DA45-4462-9F53-3310A6873C43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B4565813-CAE9-4E2E-B6AF-4E7347C70BD1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266210F-9903-4906-8444-2BACF2EC3ED5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5EC219C-1606-47CC-AC29-A0AA2B40C6EF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72CCFCC6-7A65-4E5B-9D4C-EE9972D6A861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D5863A6-B42D-4610-A8D1-6F030C94EEA7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19F84589-27C3-4D79-94AA-C38BC546251B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124DFA8-EE80-42C2-94C5-F2F0A2A8DEE2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23144DE-0617-4344-B1F9-EF5667738F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12D64936-55B3-4B67-9FBF-4E4E92197E9E}"/>
              </a:ext>
            </a:extLst>
          </p:cNvPr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38BFC9EA-3C7E-4183-ADF6-23CFE729DBEB}"/>
              </a:ext>
            </a:extLst>
          </p:cNvPr>
          <p:cNvSpPr>
            <a:spLocks noGrp="1"/>
          </p:cNvSpPr>
          <p:nvPr/>
        </p:nvSpPr>
        <p:spPr>
          <a:xfrm>
            <a:off x="666750" y="695325"/>
            <a:ext cx="7048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El cliente web enseña el uso real de la API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78D3DB72-D3A2-4932-AB30-260A8F3573D9}"/>
              </a:ext>
            </a:extLst>
          </p:cNvPr>
          <p:cNvSpPr>
            <a:spLocks noGrp="1"/>
          </p:cNvSpPr>
          <p:nvPr/>
        </p:nvSpPr>
        <p:spPr>
          <a:xfrm>
            <a:off x="7477125" y="1714500"/>
            <a:ext cx="3429000" cy="328612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922DDB37-63E6-4215-8A6F-3F93598B3BA7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5810250" cy="5905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0F6575A1-D559-44A7-BF38-3A259674D8D4}"/>
              </a:ext>
            </a:extLst>
          </p:cNvPr>
          <p:cNvSpPr>
            <a:spLocks noGrp="1"/>
          </p:cNvSpPr>
          <p:nvPr/>
        </p:nvSpPr>
        <p:spPr>
          <a:xfrm>
            <a:off x="1066800" y="16192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Inicio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271E9F82-0CC0-4108-991A-D16E8A0A8A9B}"/>
              </a:ext>
            </a:extLst>
          </p:cNvPr>
          <p:cNvSpPr>
            <a:spLocks noGrp="1"/>
          </p:cNvSpPr>
          <p:nvPr/>
        </p:nvSpPr>
        <p:spPr>
          <a:xfrm>
            <a:off x="2476500" y="1628775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Acceso rápido a videojuegos, desarrolladores, reviews y países.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5D73C77C-85D4-47BD-AC87-3901ADDD8FD6}"/>
              </a:ext>
            </a:extLst>
          </p:cNvPr>
          <p:cNvSpPr>
            <a:spLocks noGrp="1"/>
          </p:cNvSpPr>
          <p:nvPr/>
        </p:nvSpPr>
        <p:spPr>
          <a:xfrm>
            <a:off x="809625" y="2352675"/>
            <a:ext cx="5810250" cy="5905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F76CD5D8-095F-4895-8FF5-A192DDC7708A}"/>
              </a:ext>
            </a:extLst>
          </p:cNvPr>
          <p:cNvSpPr>
            <a:spLocks noGrp="1"/>
          </p:cNvSpPr>
          <p:nvPr/>
        </p:nvSpPr>
        <p:spPr>
          <a:xfrm>
            <a:off x="1066800" y="24955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Videojuegos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FB1387AF-39C1-4793-92F1-AD67BE5CB85B}"/>
              </a:ext>
            </a:extLst>
          </p:cNvPr>
          <p:cNvSpPr>
            <a:spLocks noGrp="1"/>
          </p:cNvSpPr>
          <p:nvPr/>
        </p:nvSpPr>
        <p:spPr>
          <a:xfrm>
            <a:off x="2476500" y="2505075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Búsqueda, filtros, detalle, reviews y vista enriquecida.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576E82B0-13E9-47B2-9647-F6436C0A050A}"/>
              </a:ext>
            </a:extLst>
          </p:cNvPr>
          <p:cNvSpPr>
            <a:spLocks noGrp="1"/>
          </p:cNvSpPr>
          <p:nvPr/>
        </p:nvSpPr>
        <p:spPr>
          <a:xfrm>
            <a:off x="809625" y="3228975"/>
            <a:ext cx="5810250" cy="5905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5D67857A-0051-4BFF-8D85-A413378A560A}"/>
              </a:ext>
            </a:extLst>
          </p:cNvPr>
          <p:cNvSpPr>
            <a:spLocks noGrp="1"/>
          </p:cNvSpPr>
          <p:nvPr/>
        </p:nvSpPr>
        <p:spPr>
          <a:xfrm>
            <a:off x="1066800" y="33718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CRUD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5D99AA6-5E33-4F2E-BD3A-B0876780A867}"/>
              </a:ext>
            </a:extLst>
          </p:cNvPr>
          <p:cNvSpPr>
            <a:spLocks noGrp="1"/>
          </p:cNvSpPr>
          <p:nvPr/>
        </p:nvSpPr>
        <p:spPr>
          <a:xfrm>
            <a:off x="2476500" y="3381375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Crear, editar y borrar juegos, developers y reviews desde formularios.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22805134-6371-4C94-8677-B4518AAA87A7}"/>
              </a:ext>
            </a:extLst>
          </p:cNvPr>
          <p:cNvSpPr>
            <a:spLocks noGrp="1"/>
          </p:cNvSpPr>
          <p:nvPr/>
        </p:nvSpPr>
        <p:spPr>
          <a:xfrm>
            <a:off x="809625" y="4105275"/>
            <a:ext cx="5810250" cy="590550"/>
          </a:xfrm>
          <a:prstGeom prst="rect">
            <a:avLst/>
          </a:prstGeom>
          <a:solidFill>
            <a:srgbClr val="20202A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0635EC43-1A9A-4C39-8ED7-C9326D31B3F2}"/>
              </a:ext>
            </a:extLst>
          </p:cNvPr>
          <p:cNvSpPr>
            <a:spLocks noGrp="1"/>
          </p:cNvSpPr>
          <p:nvPr/>
        </p:nvSpPr>
        <p:spPr>
          <a:xfrm>
            <a:off x="1066800" y="42481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Países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ACB297EF-60CB-402C-A93A-849577812C02}"/>
              </a:ext>
            </a:extLst>
          </p:cNvPr>
          <p:cNvSpPr>
            <a:spLocks noGrp="1"/>
          </p:cNvSpPr>
          <p:nvPr/>
        </p:nvSpPr>
        <p:spPr>
          <a:xfrm>
            <a:off x="2476500" y="4257675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Consulta XML filtrada y visualizada de forma legible.</a:t>
            </a:r>
          </a:p>
        </p:txBody>
      </p:sp>
      <p:pic>
        <p:nvPicPr>
          <p:cNvPr id="51" name="Imagen 50"/>
          <p:cNvPicPr>
            <a:picLocks noChangeAspect="1"/>
          </p:cNvPicPr>
          <p:nvPr/>
        </p:nvPicPr>
        <p:blipFill>
          <a:blip r:embed="rId3"/>
          <a:srcRect l="20652" r="20652"/>
          <a:stretch>
            <a:fillRect/>
          </a:stretch>
        </p:blipFill>
        <p:spPr>
          <a:xfrm>
            <a:off x="7477125" y="1714500"/>
            <a:ext cx="342900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483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ángulo 54">
            <a:extLst>
              <a:ext uri="{FF2B5EF4-FFF2-40B4-BE49-F238E27FC236}">
                <a16:creationId xmlns:a16="http://schemas.microsoft.com/office/drawing/2014/main" id="{8522F079-AD1C-4EB3-9621-0A073369C4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BBD4363-15B6-4782-8796-D44D022A00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B761E48-7789-4817-AF3F-414B5755FEA9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536E4AE-62E1-4BEE-8F90-60C87D813049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B7DD88C-E9B8-4B24-86E6-1B36530134B4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6AF04C5-6C74-4039-8EDE-F9FE9EC4AEB0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E8B370E-3A02-4645-B026-CCD723FCED74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16DC234-42F3-4C8A-A62D-3C16F1AA8527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06B7792-26D9-4541-A10C-936E82638B01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8493AF3-CF77-4519-9B54-36BD1C03285D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A67F6D6-6AD1-44E8-AB6D-114B24BED315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C6FDE21-63B4-41E4-92AA-1EA5F32387BC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12D427D-3B4D-4D7C-ADF6-FFFFD723EEAE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23DDD0E-830A-441B-BA1B-C681939C89F4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23E5238-88FA-44DA-96D6-4EFCF4582DB2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AFF8DF7-93E9-49CD-B68B-A214FD059848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AFAFA05-47C7-4FCC-95F9-785DA952270B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20E4329-177B-4D35-81E1-59424306164C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ACDA422-881E-441B-ACD5-D9BA29CCBD90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6BD95D3-9AF2-42EB-B988-3646474204B4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C99D0A1-53A7-4AF7-A60F-BD30416D198C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F34F978-6904-4884-BB10-4967D531FB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9BAE2D0-5A96-4056-9519-A902813B8D3D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6E5C4718-10A3-499F-9BAF-248409F2698E}"/>
              </a:ext>
            </a:extLst>
          </p:cNvPr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A93F96C8-68EA-4999-A6E9-753B2174ECD4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1C44B9C-68C3-4A9B-A9CD-DADE48C86AF7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859EA5FB-5ABD-459D-A109-219064F39FD4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8062A14-BE0B-442C-ADCF-6EB8099C4A5F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96F674D-8A04-449F-8A4B-89F5F1A4158B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D0D536B-5FF5-4CDA-8DC4-2B1A8691A6F4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51E35FD-9F95-4675-A3C8-F26D1F89F1C6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B9BA4C7B-0B2C-4EFE-8756-4CD0C09273DC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71A2AB1-0C89-484B-ADF3-78DDE97BE8DC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1616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B49D347-45B7-493D-A651-D934526784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A1BC8B8-F8B2-4A79-BB4E-D7131FE71393}"/>
              </a:ext>
            </a:extLst>
          </p:cNvPr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B7A673AF-3A18-4AC0-A05D-85F5DADB7AEE}"/>
              </a:ext>
            </a:extLst>
          </p:cNvPr>
          <p:cNvSpPr>
            <a:spLocks noGrp="1"/>
          </p:cNvSpPr>
          <p:nvPr/>
        </p:nvSpPr>
        <p:spPr>
          <a:xfrm>
            <a:off x="657225" y="462516"/>
            <a:ext cx="7048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255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La </a:t>
            </a:r>
            <a:r>
              <a:rPr sz="255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cobertura</a:t>
            </a:r>
            <a:r>
              <a:rPr sz="255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 </a:t>
            </a:r>
            <a:r>
              <a:rPr sz="255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prueba</a:t>
            </a:r>
            <a:r>
              <a:rPr sz="255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 </a:t>
            </a:r>
            <a:r>
              <a:rPr sz="255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rutas</a:t>
            </a:r>
            <a:r>
              <a:rPr sz="255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, </a:t>
            </a:r>
            <a:r>
              <a:rPr sz="255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validaciones</a:t>
            </a:r>
            <a:r>
              <a:rPr sz="255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 y </a:t>
            </a:r>
            <a:r>
              <a:rPr sz="255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servicios</a:t>
            </a:r>
            <a:r>
              <a:rPr sz="255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 </a:t>
            </a:r>
            <a:r>
              <a:rPr sz="255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externos</a:t>
            </a:r>
            <a:endParaRPr sz="2550" b="1" dirty="0">
              <a:solidFill>
                <a:srgbClr val="F5F5F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73072344-6871-4104-816D-F7D96CF01295}"/>
              </a:ext>
            </a:extLst>
          </p:cNvPr>
          <p:cNvSpPr>
            <a:spLocks noGrp="1"/>
          </p:cNvSpPr>
          <p:nvPr/>
        </p:nvSpPr>
        <p:spPr>
          <a:xfrm>
            <a:off x="876300" y="1428750"/>
            <a:ext cx="10001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Rutas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0D6190D6-BBEA-4EE4-AC4B-11B68CEEC45B}"/>
              </a:ext>
            </a:extLst>
          </p:cNvPr>
          <p:cNvSpPr>
            <a:spLocks noGrp="1"/>
          </p:cNvSpPr>
          <p:nvPr/>
        </p:nvSpPr>
        <p:spPr>
          <a:xfrm>
            <a:off x="2047875" y="1352550"/>
            <a:ext cx="8096250" cy="438150"/>
          </a:xfrm>
          <a:prstGeom prst="rect">
            <a:avLst/>
          </a:prstGeom>
          <a:solidFill>
            <a:srgbClr val="191920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7703D22C-CD17-49A5-B6FF-5DB5D5035F86}"/>
              </a:ext>
            </a:extLst>
          </p:cNvPr>
          <p:cNvSpPr>
            <a:spLocks noGrp="1"/>
          </p:cNvSpPr>
          <p:nvPr/>
        </p:nvSpPr>
        <p:spPr>
          <a:xfrm>
            <a:off x="2286000" y="1466850"/>
            <a:ext cx="742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/games, /developers, /reviews, /countries y 404 global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5B42ABAF-75FF-4E30-AF1B-B55811FDC6F4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10001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EE7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EE7FF"/>
                </a:solidFill>
                <a:latin typeface="Aptos"/>
                <a:ea typeface="Aptos"/>
                <a:cs typeface="Aptos"/>
              </a:rPr>
              <a:t>Consultas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23F08CC4-FB8C-4A16-AADE-19452DE59D05}"/>
              </a:ext>
            </a:extLst>
          </p:cNvPr>
          <p:cNvSpPr>
            <a:spLocks noGrp="1"/>
          </p:cNvSpPr>
          <p:nvPr/>
        </p:nvSpPr>
        <p:spPr>
          <a:xfrm>
            <a:off x="2047875" y="2057400"/>
            <a:ext cx="8096250" cy="438150"/>
          </a:xfrm>
          <a:prstGeom prst="rect">
            <a:avLst/>
          </a:prstGeom>
          <a:solidFill>
            <a:srgbClr val="191920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E55CAE71-FC47-4AF3-A7AA-A499B92EF053}"/>
              </a:ext>
            </a:extLst>
          </p:cNvPr>
          <p:cNvSpPr>
            <a:spLocks noGrp="1"/>
          </p:cNvSpPr>
          <p:nvPr/>
        </p:nvSpPr>
        <p:spPr>
          <a:xfrm>
            <a:off x="2286000" y="2171700"/>
            <a:ext cx="742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filtros, ordenación, paginación, XML y enriched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3DA24697-E046-4FFD-8DE5-23DD13C82098}"/>
              </a:ext>
            </a:extLst>
          </p:cNvPr>
          <p:cNvSpPr>
            <a:spLocks noGrp="1"/>
          </p:cNvSpPr>
          <p:nvPr/>
        </p:nvSpPr>
        <p:spPr>
          <a:xfrm>
            <a:off x="876300" y="2838450"/>
            <a:ext cx="10001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CRUD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F0A168CB-7914-4DA7-AA5C-F44019C111EF}"/>
              </a:ext>
            </a:extLst>
          </p:cNvPr>
          <p:cNvSpPr>
            <a:spLocks noGrp="1"/>
          </p:cNvSpPr>
          <p:nvPr/>
        </p:nvSpPr>
        <p:spPr>
          <a:xfrm>
            <a:off x="2047875" y="2762250"/>
            <a:ext cx="8096250" cy="438150"/>
          </a:xfrm>
          <a:prstGeom prst="rect">
            <a:avLst/>
          </a:prstGeom>
          <a:solidFill>
            <a:srgbClr val="191920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3201BE99-FB82-490A-9E82-887C3B751FCF}"/>
              </a:ext>
            </a:extLst>
          </p:cNvPr>
          <p:cNvSpPr>
            <a:spLocks noGrp="1"/>
          </p:cNvSpPr>
          <p:nvPr/>
        </p:nvSpPr>
        <p:spPr>
          <a:xfrm>
            <a:off x="2286000" y="2876550"/>
            <a:ext cx="742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creación, actualización, borrado y conflictos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F6847C80-D7FD-41AD-A52D-5273EF655C0D}"/>
              </a:ext>
            </a:extLst>
          </p:cNvPr>
          <p:cNvSpPr>
            <a:spLocks noGrp="1"/>
          </p:cNvSpPr>
          <p:nvPr/>
        </p:nvSpPr>
        <p:spPr>
          <a:xfrm>
            <a:off x="876300" y="3543300"/>
            <a:ext cx="10001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EE7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EE7FF"/>
                </a:solidFill>
                <a:latin typeface="Aptos"/>
                <a:ea typeface="Aptos"/>
                <a:cs typeface="Aptos"/>
              </a:rPr>
              <a:t>Validación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B703C2A9-5780-4B73-81FC-3323483EEFE0}"/>
              </a:ext>
            </a:extLst>
          </p:cNvPr>
          <p:cNvSpPr>
            <a:spLocks noGrp="1"/>
          </p:cNvSpPr>
          <p:nvPr/>
        </p:nvSpPr>
        <p:spPr>
          <a:xfrm>
            <a:off x="2047875" y="3467100"/>
            <a:ext cx="8096250" cy="438150"/>
          </a:xfrm>
          <a:prstGeom prst="rect">
            <a:avLst/>
          </a:prstGeom>
          <a:solidFill>
            <a:srgbClr val="191920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D3235F30-C130-400A-AD79-9A1958617668}"/>
              </a:ext>
            </a:extLst>
          </p:cNvPr>
          <p:cNvSpPr>
            <a:spLocks noGrp="1"/>
          </p:cNvSpPr>
          <p:nvPr/>
        </p:nvSpPr>
        <p:spPr>
          <a:xfrm>
            <a:off x="2286000" y="3581400"/>
            <a:ext cx="742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rangos, IDs positivos, duplicados y coherencia gameId/gameName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BF33604D-D91E-44C1-B682-3BD5DAF71392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10001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C8FF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FF3D"/>
                </a:solidFill>
                <a:latin typeface="Aptos"/>
                <a:ea typeface="Aptos"/>
                <a:cs typeface="Aptos"/>
              </a:rPr>
              <a:t>Servicios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10E76E16-0268-4E1D-88C6-84125993F401}"/>
              </a:ext>
            </a:extLst>
          </p:cNvPr>
          <p:cNvSpPr>
            <a:spLocks noGrp="1"/>
          </p:cNvSpPr>
          <p:nvPr/>
        </p:nvSpPr>
        <p:spPr>
          <a:xfrm>
            <a:off x="2047875" y="4171950"/>
            <a:ext cx="8096250" cy="438150"/>
          </a:xfrm>
          <a:prstGeom prst="rect">
            <a:avLst/>
          </a:prstGeom>
          <a:solidFill>
            <a:srgbClr val="191920"/>
          </a:solidFill>
          <a:ln w="9525">
            <a:solidFill>
              <a:srgbClr val="3A3A4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83DD6FC4-33B1-43F6-90B9-BAF2A57B6DA4}"/>
              </a:ext>
            </a:extLst>
          </p:cNvPr>
          <p:cNvSpPr>
            <a:spLocks noGrp="1"/>
          </p:cNvSpPr>
          <p:nvPr/>
        </p:nvSpPr>
        <p:spPr>
          <a:xfrm>
            <a:off x="2286000" y="4286250"/>
            <a:ext cx="742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5F7"/>
                </a:solidFill>
                <a:latin typeface="Aptos"/>
                <a:ea typeface="Aptos"/>
                <a:cs typeface="Aptos"/>
              </a:rPr>
              <a:t>RAWG y Wikidata probados con mocks sin depender de la red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8275D517-FCE9-49B0-B651-2D7721CFC49D}"/>
              </a:ext>
            </a:extLst>
          </p:cNvPr>
          <p:cNvSpPr>
            <a:spLocks noGrp="1"/>
          </p:cNvSpPr>
          <p:nvPr/>
        </p:nvSpPr>
        <p:spPr>
          <a:xfrm>
            <a:off x="2571750" y="5286375"/>
            <a:ext cx="6191250" cy="47625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AE77591C-3504-41CF-83C6-3458E780E0FA}"/>
              </a:ext>
            </a:extLst>
          </p:cNvPr>
          <p:cNvSpPr>
            <a:spLocks noGrp="1"/>
          </p:cNvSpPr>
          <p:nvPr/>
        </p:nvSpPr>
        <p:spPr>
          <a:xfrm>
            <a:off x="2571750" y="5410200"/>
            <a:ext cx="619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010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015"/>
                </a:solidFill>
                <a:latin typeface="Aptos"/>
                <a:ea typeface="Aptos"/>
                <a:cs typeface="Aptos"/>
              </a:rPr>
              <a:t>npm test: 28 tests ejecutados, 28 correctos</a:t>
            </a:r>
          </a:p>
        </p:txBody>
      </p:sp>
    </p:spTree>
    <p:extLst>
      <p:ext uri="{BB962C8B-B14F-4D97-AF65-F5344CB8AC3E}">
        <p14:creationId xmlns:p14="http://schemas.microsoft.com/office/powerpoint/2010/main" val="622851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77BEEFD3-A7BA-4B29-A94A-AE593127C1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D0E4C11-9016-4E4B-BE95-F0180C044366}"/>
              </a:ext>
            </a:extLst>
          </p:cNvPr>
          <p:cNvSpPr>
            <a:spLocks noGrp="1"/>
          </p:cNvSpPr>
          <p:nvPr/>
        </p:nvSpPr>
        <p:spPr>
          <a:xfrm>
            <a:off x="5715000" y="0"/>
            <a:ext cx="1524000" cy="6858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8A780EF-EFC1-4BFB-B456-F7C11D3E3B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2AE3698-5A03-4F35-923E-997A83C43CC0}"/>
              </a:ext>
            </a:extLst>
          </p:cNvPr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9B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3B5038A-4DF5-4606-9AC5-C112D6208225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5143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2850" b="1" dirty="0">
                <a:solidFill>
                  <a:srgbClr val="F5F5F7"/>
                </a:solidFill>
                <a:latin typeface="Aptos"/>
                <a:ea typeface="Aptos"/>
                <a:cs typeface="Aptos"/>
              </a:rPr>
              <a:t>API REST de </a:t>
            </a:r>
            <a:r>
              <a:rPr sz="2850" b="1" dirty="0" err="1">
                <a:solidFill>
                  <a:srgbClr val="F5F5F7"/>
                </a:solidFill>
                <a:latin typeface="Aptos"/>
                <a:ea typeface="Aptos"/>
                <a:cs typeface="Aptos"/>
              </a:rPr>
              <a:t>videojuegos</a:t>
            </a:r>
            <a:endParaRPr sz="2850" b="1" dirty="0">
              <a:solidFill>
                <a:srgbClr val="F5F5F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4B29D88-AE5A-4EC8-A628-B5EC3AE1518D}"/>
              </a:ext>
            </a:extLst>
          </p:cNvPr>
          <p:cNvSpPr>
            <a:spLocks noGrp="1"/>
          </p:cNvSpPr>
          <p:nvPr/>
        </p:nvSpPr>
        <p:spPr>
          <a:xfrm>
            <a:off x="838200" y="3095625"/>
            <a:ext cx="152400" cy="15240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6F2DDB3-EC4D-4681-B274-CF83867AAE95}"/>
              </a:ext>
            </a:extLst>
          </p:cNvPr>
          <p:cNvSpPr>
            <a:spLocks noGrp="1"/>
          </p:cNvSpPr>
          <p:nvPr/>
        </p:nvSpPr>
        <p:spPr>
          <a:xfrm>
            <a:off x="1190625" y="30289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Datos reales cargados en MongoDB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ABAABCE-51AF-4AD6-8925-C06971026B48}"/>
              </a:ext>
            </a:extLst>
          </p:cNvPr>
          <p:cNvSpPr>
            <a:spLocks noGrp="1"/>
          </p:cNvSpPr>
          <p:nvPr/>
        </p:nvSpPr>
        <p:spPr>
          <a:xfrm>
            <a:off x="838200" y="3629025"/>
            <a:ext cx="152400" cy="152400"/>
          </a:xfrm>
          <a:prstGeom prst="rect">
            <a:avLst/>
          </a:prstGeom>
          <a:solidFill>
            <a:srgbClr val="3EE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CEB3B69-91A3-4263-988F-7D790B3D9063}"/>
              </a:ext>
            </a:extLst>
          </p:cNvPr>
          <p:cNvSpPr>
            <a:spLocks noGrp="1"/>
          </p:cNvSpPr>
          <p:nvPr/>
        </p:nvSpPr>
        <p:spPr>
          <a:xfrm>
            <a:off x="1190625" y="35623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REST completo: CRUD, filtros y rutas relacionadas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D32B730-044A-4733-BF87-6F0377B532A6}"/>
              </a:ext>
            </a:extLst>
          </p:cNvPr>
          <p:cNvSpPr>
            <a:spLocks noGrp="1"/>
          </p:cNvSpPr>
          <p:nvPr/>
        </p:nvSpPr>
        <p:spPr>
          <a:xfrm>
            <a:off x="838200" y="4162425"/>
            <a:ext cx="152400" cy="152400"/>
          </a:xfrm>
          <a:prstGeom prst="rect">
            <a:avLst/>
          </a:prstGeom>
          <a:solidFill>
            <a:srgbClr val="C8F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70E067B-DB6A-451D-95BC-B94CD1F98868}"/>
              </a:ext>
            </a:extLst>
          </p:cNvPr>
          <p:cNvSpPr>
            <a:spLocks noGrp="1"/>
          </p:cNvSpPr>
          <p:nvPr/>
        </p:nvSpPr>
        <p:spPr>
          <a:xfrm>
            <a:off x="1190625" y="40957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OpenAPI + XML/XSD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272797A-FC3B-4F7B-8C12-4DBD42C8DC93}"/>
              </a:ext>
            </a:extLst>
          </p:cNvPr>
          <p:cNvSpPr>
            <a:spLocks noGrp="1"/>
          </p:cNvSpPr>
          <p:nvPr/>
        </p:nvSpPr>
        <p:spPr>
          <a:xfrm>
            <a:off x="838200" y="4695825"/>
            <a:ext cx="152400" cy="152400"/>
          </a:xfrm>
          <a:prstGeom prst="rect">
            <a:avLst/>
          </a:prstGeom>
          <a:solidFill>
            <a:srgbClr val="3EE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C9EA33A-22EF-4CD7-9262-116364953D94}"/>
              </a:ext>
            </a:extLst>
          </p:cNvPr>
          <p:cNvSpPr>
            <a:spLocks noGrp="1"/>
          </p:cNvSpPr>
          <p:nvPr/>
        </p:nvSpPr>
        <p:spPr>
          <a:xfrm>
            <a:off x="1190625" y="46291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Cliente web, OpenAPI y pruebas automatizadas</a:t>
            </a: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rcRect l="25391" r="25391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76597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1269</Words>
  <Application>Microsoft Macintosh PowerPoint</Application>
  <DocSecurity>0</DocSecurity>
  <PresentationFormat>Panorámica</PresentationFormat>
  <Paragraphs>292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Aptos Mono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David Perez Alonso</cp:lastModifiedBy>
  <cp:revision>6</cp:revision>
  <dcterms:created xsi:type="dcterms:W3CDTF">2026-05-21T04:28:03Z</dcterms:created>
  <dcterms:modified xsi:type="dcterms:W3CDTF">2026-05-21T05:22:43Z</dcterms:modified>
</cp:coreProperties>
</file>